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2" r:id="rId1"/>
  </p:sldMasterIdLst>
  <p:sldIdLst>
    <p:sldId id="292" r:id="rId2"/>
    <p:sldId id="257" r:id="rId3"/>
    <p:sldId id="258" r:id="rId4"/>
    <p:sldId id="259" r:id="rId5"/>
    <p:sldId id="261" r:id="rId6"/>
    <p:sldId id="256" r:id="rId7"/>
    <p:sldId id="293" r:id="rId8"/>
    <p:sldId id="296" r:id="rId9"/>
    <p:sldId id="294" r:id="rId10"/>
    <p:sldId id="290" r:id="rId11"/>
    <p:sldId id="280" r:id="rId12"/>
    <p:sldId id="279" r:id="rId13"/>
    <p:sldId id="297" r:id="rId14"/>
    <p:sldId id="298" r:id="rId15"/>
    <p:sldId id="278" r:id="rId16"/>
    <p:sldId id="286" r:id="rId17"/>
    <p:sldId id="288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6E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47BD14-76A9-416D-A795-D7DECEAF3F5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345ACC2B-E64A-4937-B662-75DE166AC3D6}">
      <dgm:prSet phldrT="[Texto]" phldr="0" custT="1"/>
      <dgm:spPr/>
      <dgm:t>
        <a:bodyPr/>
        <a:lstStyle/>
        <a:p>
          <a:r>
            <a:rPr lang="pt-PT" sz="2800" dirty="0">
              <a:solidFill>
                <a:schemeClr val="accent6">
                  <a:lumMod val="20000"/>
                  <a:lumOff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rPr>
            <a:t>Sistema</a:t>
          </a:r>
        </a:p>
      </dgm:t>
    </dgm:pt>
    <dgm:pt modelId="{8F539B70-B9BE-48A9-9D98-F250EF32E714}" type="parTrans" cxnId="{C2C51977-3CB2-4E7C-BBB3-6C14DEA9BBE1}">
      <dgm:prSet/>
      <dgm:spPr/>
      <dgm:t>
        <a:bodyPr/>
        <a:lstStyle/>
        <a:p>
          <a:endParaRPr lang="pt-PT" sz="20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5EB73E0D-9660-44DB-A84E-10D09F35C4C8}" type="sibTrans" cxnId="{C2C51977-3CB2-4E7C-BBB3-6C14DEA9BBE1}">
      <dgm:prSet/>
      <dgm:spPr/>
      <dgm:t>
        <a:bodyPr/>
        <a:lstStyle/>
        <a:p>
          <a:endParaRPr lang="pt-PT" sz="20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7E426367-24F0-4DED-BAA7-7E9EC69A22E5}">
      <dgm:prSet phldrT="[Texto]" custT="1"/>
      <dgm:spPr/>
      <dgm:t>
        <a:bodyPr/>
        <a:lstStyle/>
        <a:p>
          <a:pPr>
            <a:buNone/>
          </a:pPr>
          <a:r>
            <a:rPr lang="pt-PT" sz="2800" dirty="0">
              <a:solidFill>
                <a:schemeClr val="accent6">
                  <a:lumMod val="20000"/>
                  <a:lumOff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rPr>
            <a:t>Sistema de gestão</a:t>
          </a:r>
        </a:p>
      </dgm:t>
    </dgm:pt>
    <dgm:pt modelId="{2BA4D6A3-5DBC-45DF-A2E3-C0F34F09D611}" type="parTrans" cxnId="{AA12991F-C9D8-4A81-B622-69C12B97256F}">
      <dgm:prSet/>
      <dgm:spPr/>
      <dgm:t>
        <a:bodyPr/>
        <a:lstStyle/>
        <a:p>
          <a:endParaRPr lang="pt-PT" sz="20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8FC160D1-DA48-4435-845B-EF3C6E7DB956}" type="sibTrans" cxnId="{AA12991F-C9D8-4A81-B622-69C12B97256F}">
      <dgm:prSet/>
      <dgm:spPr/>
      <dgm:t>
        <a:bodyPr/>
        <a:lstStyle/>
        <a:p>
          <a:endParaRPr lang="pt-PT" sz="20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4F999EC8-E993-4BCD-9EC9-E3925EF067D4}">
      <dgm:prSet phldrT="[Texto]" phldr="0" custT="1"/>
      <dgm:spPr/>
      <dgm:t>
        <a:bodyPr/>
        <a:lstStyle/>
        <a:p>
          <a:r>
            <a:rPr lang="pt-PT" sz="2800" dirty="0">
              <a:solidFill>
                <a:schemeClr val="accent6">
                  <a:lumMod val="20000"/>
                  <a:lumOff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rPr>
            <a:t>Oficina</a:t>
          </a:r>
          <a:endParaRPr lang="pt-PT" sz="2400" dirty="0">
            <a:solidFill>
              <a:schemeClr val="accent6">
                <a:lumMod val="20000"/>
                <a:lumOff val="80000"/>
              </a:schemeClr>
            </a:solidFill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F963D437-76A6-4BED-9B7D-76B27E91739E}" type="parTrans" cxnId="{4E8E396E-DC4B-4978-ABC6-554FDA379DEA}">
      <dgm:prSet/>
      <dgm:spPr/>
      <dgm:t>
        <a:bodyPr/>
        <a:lstStyle/>
        <a:p>
          <a:endParaRPr lang="pt-PT" sz="20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58D3AACE-2CDF-462B-B2FF-BB7889576B38}" type="sibTrans" cxnId="{4E8E396E-DC4B-4978-ABC6-554FDA379DEA}">
      <dgm:prSet/>
      <dgm:spPr/>
      <dgm:t>
        <a:bodyPr/>
        <a:lstStyle/>
        <a:p>
          <a:endParaRPr lang="pt-PT" sz="20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5CD4DD43-5371-4001-A890-3BD88F0BD151}">
      <dgm:prSet custT="1"/>
      <dgm:spPr/>
      <dgm:t>
        <a:bodyPr/>
        <a:lstStyle/>
        <a:p>
          <a:pPr algn="just">
            <a:buNone/>
          </a:pPr>
          <a:r>
            <a:rPr lang="pt-PT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Segundo César (2017, p.25), Gestão de processos “representa um tipo de gestão específica, no caso, a gestão de processos, onde se busca entender os processos que são geridos pela organização”.</a:t>
          </a:r>
        </a:p>
      </dgm:t>
    </dgm:pt>
    <dgm:pt modelId="{31957F8F-F5FD-403C-B06A-61C64F94A9E8}" type="parTrans" cxnId="{3625F7F6-E281-4228-90FD-F24D0C412CBB}">
      <dgm:prSet/>
      <dgm:spPr/>
      <dgm:t>
        <a:bodyPr/>
        <a:lstStyle/>
        <a:p>
          <a:endParaRPr lang="pt-PT" sz="20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0EAE96DE-F12E-4B2E-B553-BEF42BC1F81C}" type="sibTrans" cxnId="{3625F7F6-E281-4228-90FD-F24D0C412CBB}">
      <dgm:prSet/>
      <dgm:spPr/>
      <dgm:t>
        <a:bodyPr/>
        <a:lstStyle/>
        <a:p>
          <a:endParaRPr lang="pt-PT" sz="20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2DE23D87-D564-4A15-892A-DA729B0DD575}">
      <dgm:prSet custT="1"/>
      <dgm:spPr/>
      <dgm:t>
        <a:bodyPr/>
        <a:lstStyle/>
        <a:p>
          <a:pPr algn="just">
            <a:buNone/>
          </a:pPr>
          <a:r>
            <a:rPr lang="pt-PT" sz="2000" dirty="0">
              <a:latin typeface="Cambria" panose="02040503050406030204" pitchFamily="18" charset="0"/>
              <a:ea typeface="Cambria" panose="02040503050406030204" pitchFamily="18" charset="0"/>
            </a:rPr>
            <a:t>A palavra oficina define o local de uma actividade laboral, principalmente manual ou artesanal, tal como a que se desenvolve para fabricar algo</a:t>
          </a:r>
        </a:p>
      </dgm:t>
    </dgm:pt>
    <dgm:pt modelId="{638207CB-77EA-4247-A64E-078242613DA4}" type="parTrans" cxnId="{76ACAAF8-8208-4CBB-8E3E-A774AF9E5D81}">
      <dgm:prSet/>
      <dgm:spPr/>
      <dgm:t>
        <a:bodyPr/>
        <a:lstStyle/>
        <a:p>
          <a:endParaRPr lang="pt-PT" sz="20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4D1EC94D-618B-4D32-BAD5-98C395DE6AD2}" type="sibTrans" cxnId="{76ACAAF8-8208-4CBB-8E3E-A774AF9E5D81}">
      <dgm:prSet/>
      <dgm:spPr/>
      <dgm:t>
        <a:bodyPr/>
        <a:lstStyle/>
        <a:p>
          <a:endParaRPr lang="pt-PT" sz="20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FB0B6C2-519E-4526-8C62-16534E4BE20E}">
      <dgm:prSet custT="1"/>
      <dgm:spPr/>
      <dgm:t>
        <a:bodyPr/>
        <a:lstStyle/>
        <a:p>
          <a:pPr algn="just">
            <a:buNone/>
          </a:pPr>
          <a:r>
            <a:rPr lang="pt-PT" sz="2000" dirty="0">
              <a:latin typeface="Cambria" panose="02040503050406030204" pitchFamily="18" charset="0"/>
              <a:ea typeface="Cambria" panose="02040503050406030204" pitchFamily="18" charset="0"/>
            </a:rPr>
            <a:t>De acordo com Priberam (2024), a palavra implementação deriva do verbo implementar, que vem do latim </a:t>
          </a:r>
          <a:r>
            <a:rPr lang="pt-PT" sz="2000" i="1" dirty="0" err="1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rPr>
            <a:t>implementum</a:t>
          </a:r>
          <a:r>
            <a:rPr lang="pt-PT" sz="2000" dirty="0">
              <a:latin typeface="Cambria" panose="02040503050406030204" pitchFamily="18" charset="0"/>
              <a:ea typeface="Cambria" panose="02040503050406030204" pitchFamily="18" charset="0"/>
            </a:rPr>
            <a:t>, que significa completar, indica ação ou efeito, formando assim o termo que designa o </a:t>
          </a:r>
          <a:r>
            <a:rPr lang="pt-PT" sz="2000" dirty="0" err="1">
              <a:latin typeface="Cambria" panose="02040503050406030204" pitchFamily="18" charset="0"/>
              <a:ea typeface="Cambria" panose="02040503050406030204" pitchFamily="18" charset="0"/>
            </a:rPr>
            <a:t>acto</a:t>
          </a:r>
          <a:r>
            <a:rPr lang="pt-PT" sz="2000" dirty="0">
              <a:latin typeface="Cambria" panose="02040503050406030204" pitchFamily="18" charset="0"/>
              <a:ea typeface="Cambria" panose="02040503050406030204" pitchFamily="18" charset="0"/>
            </a:rPr>
            <a:t> de executar ou realizar algo.</a:t>
          </a:r>
        </a:p>
      </dgm:t>
    </dgm:pt>
    <dgm:pt modelId="{5DE498B9-60C7-4FCF-A4B7-BB2569F2E943}" type="parTrans" cxnId="{55F91388-4741-4A81-B4E7-84238B1E0D87}">
      <dgm:prSet/>
      <dgm:spPr/>
      <dgm:t>
        <a:bodyPr/>
        <a:lstStyle/>
        <a:p>
          <a:endParaRPr lang="pt-PT" sz="20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C25A7DB7-9C2C-4028-A18B-B59F71E0B99F}" type="sibTrans" cxnId="{55F91388-4741-4A81-B4E7-84238B1E0D87}">
      <dgm:prSet/>
      <dgm:spPr/>
      <dgm:t>
        <a:bodyPr/>
        <a:lstStyle/>
        <a:p>
          <a:endParaRPr lang="pt-PT" sz="20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4F031AAD-A290-4CFB-94FF-45CA01A6C914}" type="pres">
      <dgm:prSet presAssocID="{8A47BD14-76A9-416D-A795-D7DECEAF3F57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B7CEEFAC-25C3-4BC2-B806-EF8F1425D71B}" type="pres">
      <dgm:prSet presAssocID="{345ACC2B-E64A-4937-B662-75DE166AC3D6}" presName="parentLin" presStyleCnt="0"/>
      <dgm:spPr/>
    </dgm:pt>
    <dgm:pt modelId="{6595E12A-85BB-462E-8531-8866DAF82632}" type="pres">
      <dgm:prSet presAssocID="{345ACC2B-E64A-4937-B662-75DE166AC3D6}" presName="parentLeftMargin" presStyleLbl="node1" presStyleIdx="0" presStyleCnt="3"/>
      <dgm:spPr/>
      <dgm:t>
        <a:bodyPr/>
        <a:lstStyle/>
        <a:p>
          <a:endParaRPr lang="pt-BR"/>
        </a:p>
      </dgm:t>
    </dgm:pt>
    <dgm:pt modelId="{4016F866-1483-445E-ABD8-6A630797D63B}" type="pres">
      <dgm:prSet presAssocID="{345ACC2B-E64A-4937-B662-75DE166AC3D6}" presName="parentText" presStyleLbl="node1" presStyleIdx="0" presStyleCnt="3" custScaleY="26455" custLinFactNeighborX="1657" custLinFactNeighborY="-41778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496E3AD-3FB2-47E3-9FC7-B0C071253B80}" type="pres">
      <dgm:prSet presAssocID="{345ACC2B-E64A-4937-B662-75DE166AC3D6}" presName="negativeSpace" presStyleCnt="0"/>
      <dgm:spPr/>
    </dgm:pt>
    <dgm:pt modelId="{F12D9377-331D-4D97-BC90-2596DCE02BD8}" type="pres">
      <dgm:prSet presAssocID="{345ACC2B-E64A-4937-B662-75DE166AC3D6}" presName="childText" presStyleLbl="conFgAcc1" presStyleIdx="0" presStyleCnt="3" custScaleY="62063" custLinFactNeighborY="-4452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000CF52-A9D2-4CC3-A00F-2FDDC53AB317}" type="pres">
      <dgm:prSet presAssocID="{5EB73E0D-9660-44DB-A84E-10D09F35C4C8}" presName="spaceBetweenRectangles" presStyleCnt="0"/>
      <dgm:spPr/>
    </dgm:pt>
    <dgm:pt modelId="{E21B013D-8F22-494E-A2B0-9FAE8DD64772}" type="pres">
      <dgm:prSet presAssocID="{7E426367-24F0-4DED-BAA7-7E9EC69A22E5}" presName="parentLin" presStyleCnt="0"/>
      <dgm:spPr/>
    </dgm:pt>
    <dgm:pt modelId="{0CFB79B9-F492-41AD-AC43-898073A0CC0E}" type="pres">
      <dgm:prSet presAssocID="{7E426367-24F0-4DED-BAA7-7E9EC69A22E5}" presName="parentLeftMargin" presStyleLbl="node1" presStyleIdx="0" presStyleCnt="3"/>
      <dgm:spPr/>
      <dgm:t>
        <a:bodyPr/>
        <a:lstStyle/>
        <a:p>
          <a:endParaRPr lang="pt-BR"/>
        </a:p>
      </dgm:t>
    </dgm:pt>
    <dgm:pt modelId="{66DD5743-3276-4796-ACEE-DE3B46E6A295}" type="pres">
      <dgm:prSet presAssocID="{7E426367-24F0-4DED-BAA7-7E9EC69A22E5}" presName="parentText" presStyleLbl="node1" presStyleIdx="1" presStyleCnt="3" custScaleY="27766" custLinFactNeighborX="-9864" custLinFactNeighborY="-18009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17D0593-4358-48F2-B2B5-B585BAAB33AC}" type="pres">
      <dgm:prSet presAssocID="{7E426367-24F0-4DED-BAA7-7E9EC69A22E5}" presName="negativeSpace" presStyleCnt="0"/>
      <dgm:spPr/>
    </dgm:pt>
    <dgm:pt modelId="{6A9DBBAF-AC5D-4DC7-A8AE-DFC98F6C61BB}" type="pres">
      <dgm:prSet presAssocID="{7E426367-24F0-4DED-BAA7-7E9EC69A22E5}" presName="childText" presStyleLbl="conFgAcc1" presStyleIdx="1" presStyleCnt="3" custScaleY="67251" custLinFactNeighborY="75459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5EEE86E-61F3-49AC-AAC4-6F9D1B56E864}" type="pres">
      <dgm:prSet presAssocID="{8FC160D1-DA48-4435-845B-EF3C6E7DB956}" presName="spaceBetweenRectangles" presStyleCnt="0"/>
      <dgm:spPr/>
    </dgm:pt>
    <dgm:pt modelId="{17F1505E-9C4B-4F57-8113-FCC0EDBB3A61}" type="pres">
      <dgm:prSet presAssocID="{4F999EC8-E993-4BCD-9EC9-E3925EF067D4}" presName="parentLin" presStyleCnt="0"/>
      <dgm:spPr/>
    </dgm:pt>
    <dgm:pt modelId="{ED5843AE-D200-40FB-93DA-BD1517380519}" type="pres">
      <dgm:prSet presAssocID="{4F999EC8-E993-4BCD-9EC9-E3925EF067D4}" presName="parentLeftMargin" presStyleLbl="node1" presStyleIdx="1" presStyleCnt="3"/>
      <dgm:spPr/>
      <dgm:t>
        <a:bodyPr/>
        <a:lstStyle/>
        <a:p>
          <a:endParaRPr lang="pt-BR"/>
        </a:p>
      </dgm:t>
    </dgm:pt>
    <dgm:pt modelId="{2596D4AB-6C19-4990-A1FA-66985AEB9F81}" type="pres">
      <dgm:prSet presAssocID="{4F999EC8-E993-4BCD-9EC9-E3925EF067D4}" presName="parentText" presStyleLbl="node1" presStyleIdx="2" presStyleCnt="3" custScaleY="23934" custLinFactNeighborX="-13139" custLinFactNeighborY="1341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FF2CE5F-77EC-49C4-9155-1790780D0113}" type="pres">
      <dgm:prSet presAssocID="{4F999EC8-E993-4BCD-9EC9-E3925EF067D4}" presName="negativeSpace" presStyleCnt="0"/>
      <dgm:spPr/>
    </dgm:pt>
    <dgm:pt modelId="{F4B7ECB3-BC6E-425A-8F56-3590BBD5365F}" type="pres">
      <dgm:prSet presAssocID="{4F999EC8-E993-4BCD-9EC9-E3925EF067D4}" presName="childText" presStyleLbl="conFgAcc1" presStyleIdx="2" presStyleCnt="3" custScaleY="55179" custLinFactNeighborY="74189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5DD51F53-87CF-4EF0-BC7F-2EC60A3A09B3}" type="presOf" srcId="{345ACC2B-E64A-4937-B662-75DE166AC3D6}" destId="{4016F866-1483-445E-ABD8-6A630797D63B}" srcOrd="1" destOrd="0" presId="urn:microsoft.com/office/officeart/2005/8/layout/list1"/>
    <dgm:cxn modelId="{DC9DBD36-7754-4283-9204-9517DE459946}" type="presOf" srcId="{7E426367-24F0-4DED-BAA7-7E9EC69A22E5}" destId="{66DD5743-3276-4796-ACEE-DE3B46E6A295}" srcOrd="1" destOrd="0" presId="urn:microsoft.com/office/officeart/2005/8/layout/list1"/>
    <dgm:cxn modelId="{B1C30FF8-51BF-4824-86F4-82632A400101}" type="presOf" srcId="{4F999EC8-E993-4BCD-9EC9-E3925EF067D4}" destId="{ED5843AE-D200-40FB-93DA-BD1517380519}" srcOrd="0" destOrd="0" presId="urn:microsoft.com/office/officeart/2005/8/layout/list1"/>
    <dgm:cxn modelId="{B7AE9362-D27F-4E7D-8460-58E32626D5C2}" type="presOf" srcId="{7E426367-24F0-4DED-BAA7-7E9EC69A22E5}" destId="{0CFB79B9-F492-41AD-AC43-898073A0CC0E}" srcOrd="0" destOrd="0" presId="urn:microsoft.com/office/officeart/2005/8/layout/list1"/>
    <dgm:cxn modelId="{4E8E396E-DC4B-4978-ABC6-554FDA379DEA}" srcId="{8A47BD14-76A9-416D-A795-D7DECEAF3F57}" destId="{4F999EC8-E993-4BCD-9EC9-E3925EF067D4}" srcOrd="2" destOrd="0" parTransId="{F963D437-76A6-4BED-9B7D-76B27E91739E}" sibTransId="{58D3AACE-2CDF-462B-B2FF-BB7889576B38}"/>
    <dgm:cxn modelId="{3625F7F6-E281-4228-90FD-F24D0C412CBB}" srcId="{7E426367-24F0-4DED-BAA7-7E9EC69A22E5}" destId="{5CD4DD43-5371-4001-A890-3BD88F0BD151}" srcOrd="0" destOrd="0" parTransId="{31957F8F-F5FD-403C-B06A-61C64F94A9E8}" sibTransId="{0EAE96DE-F12E-4B2E-B553-BEF42BC1F81C}"/>
    <dgm:cxn modelId="{55F91388-4741-4A81-B4E7-84238B1E0D87}" srcId="{345ACC2B-E64A-4937-B662-75DE166AC3D6}" destId="{DFB0B6C2-519E-4526-8C62-16534E4BE20E}" srcOrd="0" destOrd="0" parTransId="{5DE498B9-60C7-4FCF-A4B7-BB2569F2E943}" sibTransId="{C25A7DB7-9C2C-4028-A18B-B59F71E0B99F}"/>
    <dgm:cxn modelId="{AA12991F-C9D8-4A81-B622-69C12B97256F}" srcId="{8A47BD14-76A9-416D-A795-D7DECEAF3F57}" destId="{7E426367-24F0-4DED-BAA7-7E9EC69A22E5}" srcOrd="1" destOrd="0" parTransId="{2BA4D6A3-5DBC-45DF-A2E3-C0F34F09D611}" sibTransId="{8FC160D1-DA48-4435-845B-EF3C6E7DB956}"/>
    <dgm:cxn modelId="{C096E585-24FE-46B3-AEA9-65562872682A}" type="presOf" srcId="{8A47BD14-76A9-416D-A795-D7DECEAF3F57}" destId="{4F031AAD-A290-4CFB-94FF-45CA01A6C914}" srcOrd="0" destOrd="0" presId="urn:microsoft.com/office/officeart/2005/8/layout/list1"/>
    <dgm:cxn modelId="{C2C51977-3CB2-4E7C-BBB3-6C14DEA9BBE1}" srcId="{8A47BD14-76A9-416D-A795-D7DECEAF3F57}" destId="{345ACC2B-E64A-4937-B662-75DE166AC3D6}" srcOrd="0" destOrd="0" parTransId="{8F539B70-B9BE-48A9-9D98-F250EF32E714}" sibTransId="{5EB73E0D-9660-44DB-A84E-10D09F35C4C8}"/>
    <dgm:cxn modelId="{ECE88917-51F0-4DF7-A0CC-292DEFE935CB}" type="presOf" srcId="{345ACC2B-E64A-4937-B662-75DE166AC3D6}" destId="{6595E12A-85BB-462E-8531-8866DAF82632}" srcOrd="0" destOrd="0" presId="urn:microsoft.com/office/officeart/2005/8/layout/list1"/>
    <dgm:cxn modelId="{76ACAAF8-8208-4CBB-8E3E-A774AF9E5D81}" srcId="{4F999EC8-E993-4BCD-9EC9-E3925EF067D4}" destId="{2DE23D87-D564-4A15-892A-DA729B0DD575}" srcOrd="0" destOrd="0" parTransId="{638207CB-77EA-4247-A64E-078242613DA4}" sibTransId="{4D1EC94D-618B-4D32-BAD5-98C395DE6AD2}"/>
    <dgm:cxn modelId="{D6C49DA4-1ECE-4C5B-8DA9-51A1D974B97E}" type="presOf" srcId="{DFB0B6C2-519E-4526-8C62-16534E4BE20E}" destId="{F12D9377-331D-4D97-BC90-2596DCE02BD8}" srcOrd="0" destOrd="0" presId="urn:microsoft.com/office/officeart/2005/8/layout/list1"/>
    <dgm:cxn modelId="{7E1CF384-BEDD-4681-B1A9-E93399A80294}" type="presOf" srcId="{5CD4DD43-5371-4001-A890-3BD88F0BD151}" destId="{6A9DBBAF-AC5D-4DC7-A8AE-DFC98F6C61BB}" srcOrd="0" destOrd="0" presId="urn:microsoft.com/office/officeart/2005/8/layout/list1"/>
    <dgm:cxn modelId="{B7A004E4-598B-49EE-B815-B238B289618A}" type="presOf" srcId="{2DE23D87-D564-4A15-892A-DA729B0DD575}" destId="{F4B7ECB3-BC6E-425A-8F56-3590BBD5365F}" srcOrd="0" destOrd="0" presId="urn:microsoft.com/office/officeart/2005/8/layout/list1"/>
    <dgm:cxn modelId="{4A7DD0CE-BF88-4CA5-861D-02C660927919}" type="presOf" srcId="{4F999EC8-E993-4BCD-9EC9-E3925EF067D4}" destId="{2596D4AB-6C19-4990-A1FA-66985AEB9F81}" srcOrd="1" destOrd="0" presId="urn:microsoft.com/office/officeart/2005/8/layout/list1"/>
    <dgm:cxn modelId="{23E5CBF6-D6C3-4773-9983-526F43C50519}" type="presParOf" srcId="{4F031AAD-A290-4CFB-94FF-45CA01A6C914}" destId="{B7CEEFAC-25C3-4BC2-B806-EF8F1425D71B}" srcOrd="0" destOrd="0" presId="urn:microsoft.com/office/officeart/2005/8/layout/list1"/>
    <dgm:cxn modelId="{CBAAB391-CBB3-43E8-9CEB-14F1D69D6AF4}" type="presParOf" srcId="{B7CEEFAC-25C3-4BC2-B806-EF8F1425D71B}" destId="{6595E12A-85BB-462E-8531-8866DAF82632}" srcOrd="0" destOrd="0" presId="urn:microsoft.com/office/officeart/2005/8/layout/list1"/>
    <dgm:cxn modelId="{F3BA73E9-84EC-4DA9-82D1-D3A2BE7C1761}" type="presParOf" srcId="{B7CEEFAC-25C3-4BC2-B806-EF8F1425D71B}" destId="{4016F866-1483-445E-ABD8-6A630797D63B}" srcOrd="1" destOrd="0" presId="urn:microsoft.com/office/officeart/2005/8/layout/list1"/>
    <dgm:cxn modelId="{F2904430-7B38-4EAA-9B41-46D6248274B3}" type="presParOf" srcId="{4F031AAD-A290-4CFB-94FF-45CA01A6C914}" destId="{6496E3AD-3FB2-47E3-9FC7-B0C071253B80}" srcOrd="1" destOrd="0" presId="urn:microsoft.com/office/officeart/2005/8/layout/list1"/>
    <dgm:cxn modelId="{4977BC14-E943-43E4-85C8-1C1BAE04D72D}" type="presParOf" srcId="{4F031AAD-A290-4CFB-94FF-45CA01A6C914}" destId="{F12D9377-331D-4D97-BC90-2596DCE02BD8}" srcOrd="2" destOrd="0" presId="urn:microsoft.com/office/officeart/2005/8/layout/list1"/>
    <dgm:cxn modelId="{D966F162-3F11-46A3-8E18-A5EBA6285132}" type="presParOf" srcId="{4F031AAD-A290-4CFB-94FF-45CA01A6C914}" destId="{1000CF52-A9D2-4CC3-A00F-2FDDC53AB317}" srcOrd="3" destOrd="0" presId="urn:microsoft.com/office/officeart/2005/8/layout/list1"/>
    <dgm:cxn modelId="{FB98292C-DA9D-4150-8BF3-FC46CCBCCF32}" type="presParOf" srcId="{4F031AAD-A290-4CFB-94FF-45CA01A6C914}" destId="{E21B013D-8F22-494E-A2B0-9FAE8DD64772}" srcOrd="4" destOrd="0" presId="urn:microsoft.com/office/officeart/2005/8/layout/list1"/>
    <dgm:cxn modelId="{A20D9E13-D021-4E91-8E5A-D858991211C6}" type="presParOf" srcId="{E21B013D-8F22-494E-A2B0-9FAE8DD64772}" destId="{0CFB79B9-F492-41AD-AC43-898073A0CC0E}" srcOrd="0" destOrd="0" presId="urn:microsoft.com/office/officeart/2005/8/layout/list1"/>
    <dgm:cxn modelId="{D316770A-D43A-41A2-BE70-8DB5579F2848}" type="presParOf" srcId="{E21B013D-8F22-494E-A2B0-9FAE8DD64772}" destId="{66DD5743-3276-4796-ACEE-DE3B46E6A295}" srcOrd="1" destOrd="0" presId="urn:microsoft.com/office/officeart/2005/8/layout/list1"/>
    <dgm:cxn modelId="{9F6E21CA-9761-4CD0-B298-EA96AABD8585}" type="presParOf" srcId="{4F031AAD-A290-4CFB-94FF-45CA01A6C914}" destId="{917D0593-4358-48F2-B2B5-B585BAAB33AC}" srcOrd="5" destOrd="0" presId="urn:microsoft.com/office/officeart/2005/8/layout/list1"/>
    <dgm:cxn modelId="{1DB63900-9790-455A-BC1A-4A893486008B}" type="presParOf" srcId="{4F031AAD-A290-4CFB-94FF-45CA01A6C914}" destId="{6A9DBBAF-AC5D-4DC7-A8AE-DFC98F6C61BB}" srcOrd="6" destOrd="0" presId="urn:microsoft.com/office/officeart/2005/8/layout/list1"/>
    <dgm:cxn modelId="{24BFFB10-EE21-449D-9654-8ED222EBFAD2}" type="presParOf" srcId="{4F031AAD-A290-4CFB-94FF-45CA01A6C914}" destId="{F5EEE86E-61F3-49AC-AAC4-6F9D1B56E864}" srcOrd="7" destOrd="0" presId="urn:microsoft.com/office/officeart/2005/8/layout/list1"/>
    <dgm:cxn modelId="{D0EE820D-0193-4C36-821E-90C3A7DAF3B2}" type="presParOf" srcId="{4F031AAD-A290-4CFB-94FF-45CA01A6C914}" destId="{17F1505E-9C4B-4F57-8113-FCC0EDBB3A61}" srcOrd="8" destOrd="0" presId="urn:microsoft.com/office/officeart/2005/8/layout/list1"/>
    <dgm:cxn modelId="{53D26CE4-2D34-43A7-A868-8AF3F33718A3}" type="presParOf" srcId="{17F1505E-9C4B-4F57-8113-FCC0EDBB3A61}" destId="{ED5843AE-D200-40FB-93DA-BD1517380519}" srcOrd="0" destOrd="0" presId="urn:microsoft.com/office/officeart/2005/8/layout/list1"/>
    <dgm:cxn modelId="{F7138290-9F8A-4D47-9258-9FDC602E65AB}" type="presParOf" srcId="{17F1505E-9C4B-4F57-8113-FCC0EDBB3A61}" destId="{2596D4AB-6C19-4990-A1FA-66985AEB9F81}" srcOrd="1" destOrd="0" presId="urn:microsoft.com/office/officeart/2005/8/layout/list1"/>
    <dgm:cxn modelId="{E2F8E2BF-2B97-40ED-A2A6-1AF086CDC5B6}" type="presParOf" srcId="{4F031AAD-A290-4CFB-94FF-45CA01A6C914}" destId="{FFF2CE5F-77EC-49C4-9155-1790780D0113}" srcOrd="9" destOrd="0" presId="urn:microsoft.com/office/officeart/2005/8/layout/list1"/>
    <dgm:cxn modelId="{BE682C89-4DFF-4FBA-B32D-4C9A02A70D21}" type="presParOf" srcId="{4F031AAD-A290-4CFB-94FF-45CA01A6C914}" destId="{F4B7ECB3-BC6E-425A-8F56-3590BBD5365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2D9377-331D-4D97-BC90-2596DCE02BD8}">
      <dsp:nvSpPr>
        <dsp:cNvPr id="0" name=""/>
        <dsp:cNvSpPr/>
      </dsp:nvSpPr>
      <dsp:spPr>
        <a:xfrm>
          <a:off x="0" y="536627"/>
          <a:ext cx="8330609" cy="159526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6548" tIns="395732" rIns="646548" bIns="14224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2000" kern="1200" dirty="0">
              <a:latin typeface="Cambria" panose="02040503050406030204" pitchFamily="18" charset="0"/>
              <a:ea typeface="Cambria" panose="02040503050406030204" pitchFamily="18" charset="0"/>
            </a:rPr>
            <a:t>De acordo com Priberam (2024), a palavra implementação deriva do verbo implementar, que vem do latim </a:t>
          </a:r>
          <a:r>
            <a:rPr lang="pt-PT" sz="2000" i="1" kern="1200" dirty="0" err="1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rPr>
            <a:t>implementum</a:t>
          </a:r>
          <a:r>
            <a:rPr lang="pt-PT" sz="2000" kern="1200" dirty="0">
              <a:latin typeface="Cambria" panose="02040503050406030204" pitchFamily="18" charset="0"/>
              <a:ea typeface="Cambria" panose="02040503050406030204" pitchFamily="18" charset="0"/>
            </a:rPr>
            <a:t>, que significa completar, indica ação ou efeito, formando assim o termo que designa o </a:t>
          </a:r>
          <a:r>
            <a:rPr lang="pt-PT" sz="2000" kern="1200" dirty="0" err="1">
              <a:latin typeface="Cambria" panose="02040503050406030204" pitchFamily="18" charset="0"/>
              <a:ea typeface="Cambria" panose="02040503050406030204" pitchFamily="18" charset="0"/>
            </a:rPr>
            <a:t>acto</a:t>
          </a:r>
          <a:r>
            <a:rPr lang="pt-PT" sz="2000" kern="1200" dirty="0">
              <a:latin typeface="Cambria" panose="02040503050406030204" pitchFamily="18" charset="0"/>
              <a:ea typeface="Cambria" panose="02040503050406030204" pitchFamily="18" charset="0"/>
            </a:rPr>
            <a:t> de executar ou realizar algo.</a:t>
          </a:r>
        </a:p>
      </dsp:txBody>
      <dsp:txXfrm>
        <a:off x="0" y="536627"/>
        <a:ext cx="8330609" cy="1595267"/>
      </dsp:txXfrm>
    </dsp:sp>
    <dsp:sp modelId="{4016F866-1483-445E-ABD8-6A630797D63B}">
      <dsp:nvSpPr>
        <dsp:cNvPr id="0" name=""/>
        <dsp:cNvSpPr/>
      </dsp:nvSpPr>
      <dsp:spPr>
        <a:xfrm>
          <a:off x="423432" y="346033"/>
          <a:ext cx="5831426" cy="499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14" tIns="0" rIns="220414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2800" kern="1200" dirty="0">
              <a:solidFill>
                <a:schemeClr val="accent6">
                  <a:lumMod val="20000"/>
                  <a:lumOff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rPr>
            <a:t>Sistema</a:t>
          </a:r>
        </a:p>
      </dsp:txBody>
      <dsp:txXfrm>
        <a:off x="447831" y="370432"/>
        <a:ext cx="5782628" cy="451011"/>
      </dsp:txXfrm>
    </dsp:sp>
    <dsp:sp modelId="{6A9DBBAF-AC5D-4DC7-A8AE-DFC98F6C61BB}">
      <dsp:nvSpPr>
        <dsp:cNvPr id="0" name=""/>
        <dsp:cNvSpPr/>
      </dsp:nvSpPr>
      <dsp:spPr>
        <a:xfrm>
          <a:off x="0" y="2472096"/>
          <a:ext cx="8330609" cy="172861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6548" tIns="395732" rIns="646548" bIns="14224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2000" kern="1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Segundo César (2017, p.25), Gestão de processos “representa um tipo de gestão específica, no caso, a gestão de processos, onde se busca entender os processos que são geridos pela organização”.</a:t>
          </a:r>
        </a:p>
      </dsp:txBody>
      <dsp:txXfrm>
        <a:off x="0" y="2472096"/>
        <a:ext cx="8330609" cy="1728619"/>
      </dsp:txXfrm>
    </dsp:sp>
    <dsp:sp modelId="{66DD5743-3276-4796-ACEE-DE3B46E6A295}">
      <dsp:nvSpPr>
        <dsp:cNvPr id="0" name=""/>
        <dsp:cNvSpPr/>
      </dsp:nvSpPr>
      <dsp:spPr>
        <a:xfrm>
          <a:off x="375443" y="2291132"/>
          <a:ext cx="5831426" cy="5245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14" tIns="0" rIns="220414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>
              <a:solidFill>
                <a:schemeClr val="accent6">
                  <a:lumMod val="20000"/>
                  <a:lumOff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rPr>
            <a:t>Sistema de gestão</a:t>
          </a:r>
        </a:p>
      </dsp:txBody>
      <dsp:txXfrm>
        <a:off x="401051" y="2316740"/>
        <a:ext cx="5780210" cy="473361"/>
      </dsp:txXfrm>
    </dsp:sp>
    <dsp:sp modelId="{F4B7ECB3-BC6E-425A-8F56-3590BBD5365F}">
      <dsp:nvSpPr>
        <dsp:cNvPr id="0" name=""/>
        <dsp:cNvSpPr/>
      </dsp:nvSpPr>
      <dsp:spPr>
        <a:xfrm>
          <a:off x="0" y="4483576"/>
          <a:ext cx="8330609" cy="127926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6548" tIns="395732" rIns="646548" bIns="14224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2000" kern="1200" dirty="0">
              <a:latin typeface="Cambria" panose="02040503050406030204" pitchFamily="18" charset="0"/>
              <a:ea typeface="Cambria" panose="02040503050406030204" pitchFamily="18" charset="0"/>
            </a:rPr>
            <a:t>A palavra oficina define o local de uma actividade laboral, principalmente manual ou artesanal, tal como a que se desenvolve para fabricar algo</a:t>
          </a:r>
        </a:p>
      </dsp:txBody>
      <dsp:txXfrm>
        <a:off x="0" y="4483576"/>
        <a:ext cx="8330609" cy="1279269"/>
      </dsp:txXfrm>
    </dsp:sp>
    <dsp:sp modelId="{2596D4AB-6C19-4990-A1FA-66985AEB9F81}">
      <dsp:nvSpPr>
        <dsp:cNvPr id="0" name=""/>
        <dsp:cNvSpPr/>
      </dsp:nvSpPr>
      <dsp:spPr>
        <a:xfrm>
          <a:off x="361802" y="4310865"/>
          <a:ext cx="5831426" cy="4521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14" tIns="0" rIns="220414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2800" kern="1200" dirty="0">
              <a:solidFill>
                <a:schemeClr val="accent6">
                  <a:lumMod val="20000"/>
                  <a:lumOff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rPr>
            <a:t>Oficina</a:t>
          </a:r>
          <a:endParaRPr lang="pt-PT" sz="2400" kern="1200" dirty="0">
            <a:solidFill>
              <a:schemeClr val="accent6">
                <a:lumMod val="20000"/>
                <a:lumOff val="80000"/>
              </a:schemeClr>
            </a:solidFill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383876" y="4332939"/>
        <a:ext cx="5787278" cy="4080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9144" y="4956048"/>
            <a:ext cx="2990088" cy="914400"/>
          </a:xfrm>
          <a:noFill/>
        </p:spPr>
        <p:txBody>
          <a:bodyPr wrap="square" rtlCol="0">
            <a:spAutoFit/>
          </a:bodyPr>
          <a:lstStyle>
            <a:lvl1pPr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0945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7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74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17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23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04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86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85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58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7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74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7029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89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44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20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5372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2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16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81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  <p:sldLayoutId id="2147483859" r:id="rId17"/>
    <p:sldLayoutId id="214748386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>
              <a:lumMod val="60000"/>
              <a:lumOff val="4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2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hyperlink" Target="mmmm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B155573-5979-DBC0-5DAD-3250EB0A9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77" y="3108619"/>
            <a:ext cx="7797662" cy="1035218"/>
          </a:xfrm>
        </p:spPr>
        <p:txBody>
          <a:bodyPr/>
          <a:lstStyle/>
          <a:p>
            <a:pPr algn="ctr"/>
            <a:r>
              <a:rPr lang="pt-PT" sz="1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DESENVOLVIMENTO DE UM SISTEMA WEB PARA A GESTÃO INTEGRADA DE PEDIDOS, FICHAS TÉCNICAS E STOCK NUMA COZINHA DE RESTAURANTE </a:t>
            </a:r>
            <a:endParaRPr lang="pt-PT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xmlns="" id="{8143662A-8786-44C9-92A9-DE4BA7E65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747" y="177628"/>
            <a:ext cx="1556475" cy="1297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8F5C4E75-636B-4D02-95BE-970D9635FCE3}"/>
              </a:ext>
            </a:extLst>
          </p:cNvPr>
          <p:cNvSpPr/>
          <p:nvPr/>
        </p:nvSpPr>
        <p:spPr>
          <a:xfrm>
            <a:off x="1177307" y="1593751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alt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INSTITUTO SUPERIOR POLITÉCNICO CARDEAL DOM ALEXANDRE DO NASCIMENTO</a:t>
            </a:r>
            <a:endParaRPr lang="pt-PT" altLang="pt-PT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alt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ISPCAN – MALANJE 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0BE5DE59-B5BA-4A0E-A748-C72F523E5DC2}"/>
              </a:ext>
            </a:extLst>
          </p:cNvPr>
          <p:cNvSpPr/>
          <p:nvPr/>
        </p:nvSpPr>
        <p:spPr>
          <a:xfrm>
            <a:off x="327897" y="4403418"/>
            <a:ext cx="4531735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PT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Autora: </a:t>
            </a:r>
            <a:r>
              <a:rPr lang="pt-PT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Luisa Gaspar Catendo</a:t>
            </a:r>
          </a:p>
          <a:p>
            <a:pPr algn="just"/>
            <a:r>
              <a:rPr lang="pt-PT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Orientador: </a:t>
            </a:r>
            <a:r>
              <a:rPr lang="pt-PT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Osvaldo Queta</a:t>
            </a:r>
            <a:r>
              <a:rPr lang="pt-PT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pt-PT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PT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6BD32F89-CF19-4A48-A303-F1406ED2463F}"/>
              </a:ext>
            </a:extLst>
          </p:cNvPr>
          <p:cNvSpPr/>
          <p:nvPr/>
        </p:nvSpPr>
        <p:spPr>
          <a:xfrm>
            <a:off x="581116" y="5760414"/>
            <a:ext cx="74937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6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pt-PT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Malanje/2026</a:t>
            </a:r>
            <a:endParaRPr lang="pt-PT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xmlns="" id="{E79A3B9E-EBA6-463B-89D4-E58E2525D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541261"/>
            <a:ext cx="7312415" cy="861774"/>
          </a:xfrm>
        </p:spPr>
        <p:txBody>
          <a:bodyPr/>
          <a:lstStyle/>
          <a:p>
            <a:pPr marL="0" indent="0" algn="ctr">
              <a:buNone/>
            </a:pPr>
            <a:r>
              <a:rPr lang="pt-BR" alt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 DE ENGENHARIA INFORMÁTICA </a:t>
            </a:r>
            <a:endParaRPr lang="pt-PT" altLang="pt-P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10800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169" y="141668"/>
            <a:ext cx="7797662" cy="630372"/>
          </a:xfrm>
        </p:spPr>
        <p:txBody>
          <a:bodyPr/>
          <a:lstStyle/>
          <a:p>
            <a:pPr algn="ctr"/>
            <a:r>
              <a:rPr lang="pt-PT" dirty="0">
                <a:solidFill>
                  <a:srgbClr val="002060"/>
                </a:solidFill>
              </a:rPr>
              <a:t>INTRODUÇÃO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204" y="656504"/>
            <a:ext cx="7907627" cy="484814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PT" sz="2700" cap="none" dirty="0">
                <a:latin typeface="Cambria" panose="02040503050406030204" pitchFamily="18" charset="0"/>
                <a:ea typeface="Cambria" panose="02040503050406030204" pitchFamily="18" charset="0"/>
              </a:rPr>
              <a:t>A evolução tecnológica tem impulsionado a modernização das instituições, pois o controlo manual já não dá conta das exigências </a:t>
            </a:r>
            <a:r>
              <a:rPr lang="pt-PT" sz="2700" cap="none" dirty="0" err="1">
                <a:latin typeface="Cambria" panose="02040503050406030204" pitchFamily="18" charset="0"/>
                <a:ea typeface="Cambria" panose="02040503050406030204" pitchFamily="18" charset="0"/>
              </a:rPr>
              <a:t>actuais</a:t>
            </a:r>
            <a:r>
              <a:rPr lang="pt-PT" sz="2700" cap="none" dirty="0">
                <a:latin typeface="Cambria" panose="02040503050406030204" pitchFamily="18" charset="0"/>
                <a:ea typeface="Cambria" panose="02040503050406030204" pitchFamily="18" charset="0"/>
              </a:rPr>
              <a:t>. A implementação de um sistema web permite integrar o registo de serviços e a </a:t>
            </a:r>
            <a:r>
              <a:rPr lang="pt-PT" sz="2700" cap="none" dirty="0" err="1">
                <a:latin typeface="Cambria" panose="02040503050406030204" pitchFamily="18" charset="0"/>
                <a:ea typeface="Cambria" panose="02040503050406030204" pitchFamily="18" charset="0"/>
              </a:rPr>
              <a:t>facturação</a:t>
            </a:r>
            <a:r>
              <a:rPr lang="pt-PT" sz="2700" cap="none" dirty="0">
                <a:latin typeface="Cambria" panose="02040503050406030204" pitchFamily="18" charset="0"/>
                <a:ea typeface="Cambria" panose="02040503050406030204" pitchFamily="18" charset="0"/>
              </a:rPr>
              <a:t>, trazendo mais agilidade e confiança nos dados e minimizar as dificuldades reais vividas no terreno pelos técnicos. Este trabalho, além de prático, é um contributo académico que une a engenharia de software à gestão do dia-a-dia.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FDE482E4-247D-60C6-D71A-56A210FE6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144001" cy="685800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1B96CA3C-67A2-42DE-89D3-138FC32539D0}"/>
              </a:ext>
            </a:extLst>
          </p:cNvPr>
          <p:cNvSpPr txBox="1"/>
          <p:nvPr/>
        </p:nvSpPr>
        <p:spPr>
          <a:xfrm>
            <a:off x="2236763" y="402708"/>
            <a:ext cx="4670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2400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  <a:r>
              <a:rPr lang="pt-PT" sz="16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x-none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5494C0C2-2F46-4337-AE5A-B088761FA6B9}"/>
              </a:ext>
            </a:extLst>
          </p:cNvPr>
          <p:cNvSpPr txBox="1"/>
          <p:nvPr/>
        </p:nvSpPr>
        <p:spPr>
          <a:xfrm>
            <a:off x="6185871" y="209856"/>
            <a:ext cx="769710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x-non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uxograma: Multidocumentos 4">
            <a:extLst>
              <a:ext uri="{FF2B5EF4-FFF2-40B4-BE49-F238E27FC236}">
                <a16:creationId xmlns:a16="http://schemas.microsoft.com/office/drawing/2014/main" xmlns="" id="{69A946D2-F0C3-4431-8ADA-5B2B62401480}"/>
              </a:ext>
            </a:extLst>
          </p:cNvPr>
          <p:cNvSpPr/>
          <p:nvPr/>
        </p:nvSpPr>
        <p:spPr>
          <a:xfrm>
            <a:off x="146796" y="2419643"/>
            <a:ext cx="8856527" cy="4296688"/>
          </a:xfrm>
          <a:prstGeom prst="flowChartMulti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evolução das Tecnologias de Informação e Comunicação (TIC) tem contribuído para a modernização dos processos de gestão nos restaurantes.</a:t>
            </a: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Actualmente, muitas cozinhas ainda realizam o controlo de pedidos, fichas técnicas e stocks de forma manual ou através de ferramentas separadas.</a:t>
            </a: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Esta realidade pode provocar atrasos, erros de registo, desperdício de ingredientes e dificuldades no controlo das informações.</a:t>
            </a: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Deste modo, torna-se importante utilizar um sistema web que permita integrar e facilitar a gestão dos principais processos da cozinha.</a:t>
            </a:r>
            <a:endParaRPr lang="x-none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870">
              <a:srgbClr val="E4EDF6">
                <a:lumMod val="13000"/>
                <a:lumOff val="87000"/>
              </a:srgbClr>
            </a:gs>
            <a:gs pos="0">
              <a:schemeClr val="bg1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385" y="106251"/>
            <a:ext cx="8500459" cy="1151965"/>
          </a:xfrm>
        </p:spPr>
        <p:txBody>
          <a:bodyPr/>
          <a:lstStyle/>
          <a:p>
            <a:pPr algn="ctr"/>
            <a:r>
              <a:rPr dirty="0" err="1">
                <a:solidFill>
                  <a:srgbClr val="002060"/>
                </a:solidFill>
              </a:rPr>
              <a:t>Problema</a:t>
            </a:r>
            <a:r>
              <a:rPr dirty="0">
                <a:solidFill>
                  <a:srgbClr val="002060"/>
                </a:solidFill>
              </a:rPr>
              <a:t> de </a:t>
            </a:r>
            <a:r>
              <a:rPr dirty="0" err="1">
                <a:solidFill>
                  <a:srgbClr val="002060"/>
                </a:solidFill>
              </a:rPr>
              <a:t>Investigação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90" y="4114765"/>
            <a:ext cx="7650454" cy="133940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pt-PT" sz="2800" b="1" cap="none" dirty="0">
                <a:latin typeface="Cambria" panose="02040503050406030204" pitchFamily="18" charset="0"/>
                <a:ea typeface="Cambria" panose="02040503050406030204" pitchFamily="18" charset="0"/>
              </a:rPr>
              <a:t>Pergunta: </a:t>
            </a:r>
            <a:r>
              <a:rPr lang="pt-PT" sz="2800" cap="none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como um sistema informatizado pode melhorar a gestão da oficina?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3E0B7464-439B-B34B-7BFF-53ED8D089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5" r="17156" b="15771"/>
          <a:stretch>
            <a:fillRect/>
          </a:stretch>
        </p:blipFill>
        <p:spPr>
          <a:xfrm>
            <a:off x="7610086" y="3813411"/>
            <a:ext cx="1326524" cy="166365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977EFC85-EB1F-631B-EEE2-8D97E1D12CFE}"/>
              </a:ext>
            </a:extLst>
          </p:cNvPr>
          <p:cNvSpPr txBox="1">
            <a:spLocks/>
          </p:cNvSpPr>
          <p:nvPr/>
        </p:nvSpPr>
        <p:spPr>
          <a:xfrm>
            <a:off x="207390" y="936261"/>
            <a:ext cx="8421454" cy="31785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>
                  <a:lumMod val="60000"/>
                  <a:lumOff val="40000"/>
                </a:schemeClr>
              </a:buClr>
              <a:buSzPct val="160000"/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SzPct val="160000"/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SzPct val="160000"/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buNone/>
            </a:pPr>
            <a:r>
              <a:rPr lang="pt-PT" sz="2800" cap="none" dirty="0">
                <a:latin typeface="Cambria" panose="02040503050406030204" pitchFamily="18" charset="0"/>
                <a:ea typeface="Cambria" panose="02040503050406030204" pitchFamily="18" charset="0"/>
              </a:rPr>
              <a:t>A oficina MM tem enfrentado alguns problemas no momento de cadastros de clientes e veículos por serem feitos de forma manual. </a:t>
            </a:r>
            <a:r>
              <a:rPr lang="pt-BR" sz="2800" cap="none" dirty="0">
                <a:latin typeface="Cambria" panose="02040503050406030204" pitchFamily="18" charset="0"/>
                <a:ea typeface="Cambria" panose="02040503050406030204" pitchFamily="18" charset="0"/>
              </a:rPr>
              <a:t>Uma oficina mecânica é um estabelecimento responsável pela manutenção, diagnóstico e reparação de veículos, garantindo que estes funcionem correctamente e com segurança.</a:t>
            </a:r>
            <a:endParaRPr lang="pt-PT" sz="4000" cap="non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456B43A8-1F6D-11FE-439D-8A6055EFA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14" y="-24488"/>
            <a:ext cx="9153914" cy="688248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9D409A53-56AC-4EAB-B1C1-68F4FFD4F68D}"/>
              </a:ext>
            </a:extLst>
          </p:cNvPr>
          <p:cNvSpPr txBox="1"/>
          <p:nvPr/>
        </p:nvSpPr>
        <p:spPr>
          <a:xfrm>
            <a:off x="2156247" y="497567"/>
            <a:ext cx="46142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2400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PROBLEMÁTICA</a:t>
            </a:r>
            <a:r>
              <a:rPr lang="pt-PT" sz="16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x-none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3D2AB3BD-2815-4049-A91F-2C7EA5377983}"/>
              </a:ext>
            </a:extLst>
          </p:cNvPr>
          <p:cNvSpPr txBox="1"/>
          <p:nvPr/>
        </p:nvSpPr>
        <p:spPr>
          <a:xfrm>
            <a:off x="7772882" y="106251"/>
            <a:ext cx="3319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x-none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Balão: Linha em Ângulo Duplo Sem Limite 8">
            <a:extLst>
              <a:ext uri="{FF2B5EF4-FFF2-40B4-BE49-F238E27FC236}">
                <a16:creationId xmlns:a16="http://schemas.microsoft.com/office/drawing/2014/main" xmlns="" id="{902FD5D6-0BAA-439C-8E22-647BB05A5637}"/>
              </a:ext>
            </a:extLst>
          </p:cNvPr>
          <p:cNvSpPr/>
          <p:nvPr/>
        </p:nvSpPr>
        <p:spPr>
          <a:xfrm>
            <a:off x="1133723" y="2738508"/>
            <a:ext cx="7812919" cy="3963324"/>
          </a:xfrm>
          <a:prstGeom prst="callout3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Actualmente, em algumas cozinhas de restaurantes, a gestão dos pedidos, fichas técnicas e stocks apresenta dificuldades, tais como:</a:t>
            </a: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Registo manual dos pedidos;</a:t>
            </a: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Dificuldade no acompanhamento do estado dos pedidos;</a:t>
            </a: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Falta de integração entre pedidos e fichas técnicas;</a:t>
            </a: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Dificuldade no controlo das entradas e saídas de ingredientes;</a:t>
            </a: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Risco de desperdício e ruptura de stock;</a:t>
            </a: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Informações dispersas, dificultando a tomada de decisões.</a:t>
            </a:r>
            <a:endParaRPr lang="x-none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8001" y="370269"/>
            <a:ext cx="3207644" cy="598866"/>
          </a:xfrm>
        </p:spPr>
        <p:txBody>
          <a:bodyPr/>
          <a:lstStyle/>
          <a:p>
            <a:r>
              <a:rPr sz="3200" dirty="0" err="1">
                <a:solidFill>
                  <a:schemeClr val="accent1">
                    <a:lumMod val="75000"/>
                  </a:schemeClr>
                </a:solidFill>
              </a:rPr>
              <a:t>Objectivo</a:t>
            </a:r>
            <a:r>
              <a:rPr sz="3200" dirty="0">
                <a:solidFill>
                  <a:schemeClr val="accent1">
                    <a:lumMod val="75000"/>
                  </a:schemeClr>
                </a:solidFill>
              </a:rPr>
              <a:t>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651" y="865661"/>
            <a:ext cx="8024342" cy="171011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/>
              <a:t>Desenvolver um sistema de gestão de oficina</a:t>
            </a:r>
            <a:endParaRPr lang="pt-PT" sz="2400" cap="non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D6961484-F08A-F365-26B2-3658CE172802}"/>
              </a:ext>
            </a:extLst>
          </p:cNvPr>
          <p:cNvSpPr txBox="1">
            <a:spLocks/>
          </p:cNvSpPr>
          <p:nvPr/>
        </p:nvSpPr>
        <p:spPr>
          <a:xfrm>
            <a:off x="212099" y="3155324"/>
            <a:ext cx="8436466" cy="2495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pt-BR" sz="2400" dirty="0"/>
              <a:t>Identificar o sistema de informação da empresa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PT" sz="2400" cap="none" dirty="0"/>
              <a:t>Gerir Clientes (Adicionar, Eliminar, </a:t>
            </a:r>
            <a:r>
              <a:rPr lang="pt-PT" sz="2400" cap="none" dirty="0" err="1"/>
              <a:t>Actualizar</a:t>
            </a:r>
            <a:r>
              <a:rPr lang="pt-PT" sz="2400" cap="none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PT" sz="2400" cap="none" dirty="0"/>
              <a:t>Propor E Implementar Um Sistema De Gestão De Oficina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85573" y="2591429"/>
            <a:ext cx="4392499" cy="5988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pt-PT" sz="3200" dirty="0">
                <a:solidFill>
                  <a:schemeClr val="accent1">
                    <a:lumMod val="75000"/>
                  </a:schemeClr>
                </a:solidFill>
              </a:rPr>
              <a:t>Objectivos Específicos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AA2CBCB8-8DC7-5279-7F8B-AA529B145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894" y="2686909"/>
            <a:ext cx="1305084" cy="159531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2342FA0D-0EA1-0CA9-42BF-A34563367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6A961A2B-D590-40C6-9378-AFE41AC4BDE8}"/>
              </a:ext>
            </a:extLst>
          </p:cNvPr>
          <p:cNvSpPr txBox="1"/>
          <p:nvPr/>
        </p:nvSpPr>
        <p:spPr>
          <a:xfrm>
            <a:off x="703384" y="370269"/>
            <a:ext cx="70338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2400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Pergunta de partida </a:t>
            </a:r>
            <a:endParaRPr lang="x-none" sz="2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89E9BF95-B158-4E23-82EA-C0E38D9FC3CE}"/>
              </a:ext>
            </a:extLst>
          </p:cNvPr>
          <p:cNvSpPr txBox="1"/>
          <p:nvPr/>
        </p:nvSpPr>
        <p:spPr>
          <a:xfrm>
            <a:off x="4768340" y="1658155"/>
            <a:ext cx="75906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6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PT" sz="16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x-none" dirty="0"/>
          </a:p>
        </p:txBody>
      </p:sp>
      <p:sp>
        <p:nvSpPr>
          <p:cNvPr id="8" name="Bolha de Pensamento: Nuvem 7">
            <a:extLst>
              <a:ext uri="{FF2B5EF4-FFF2-40B4-BE49-F238E27FC236}">
                <a16:creationId xmlns:a16="http://schemas.microsoft.com/office/drawing/2014/main" xmlns="" id="{54A2DB9D-71FA-4327-BBB5-E1A09BD6847A}"/>
              </a:ext>
            </a:extLst>
          </p:cNvPr>
          <p:cNvSpPr/>
          <p:nvPr/>
        </p:nvSpPr>
        <p:spPr>
          <a:xfrm>
            <a:off x="136685" y="2744207"/>
            <a:ext cx="3675659" cy="3562863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Como o desenvolvimento de um sistema web integrado pode melhorar a gestão de pedidos, fichas técnicas e stock numa cozinha de restaurante?</a:t>
            </a:r>
            <a:endParaRPr lang="x-none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409" y="135230"/>
            <a:ext cx="8175421" cy="550571"/>
          </a:xfrm>
        </p:spPr>
        <p:txBody>
          <a:bodyPr/>
          <a:lstStyle/>
          <a:p>
            <a:pPr algn="ctr"/>
            <a:r>
              <a:rPr dirty="0" err="1">
                <a:solidFill>
                  <a:schemeClr val="accent1">
                    <a:lumMod val="75000"/>
                  </a:schemeClr>
                </a:solidFill>
              </a:rPr>
              <a:t>Justificativa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325" y="581626"/>
            <a:ext cx="8320157" cy="322254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PT" sz="2400" cap="none" dirty="0">
                <a:latin typeface="Cambria" panose="02040503050406030204" pitchFamily="18" charset="0"/>
                <a:ea typeface="Cambria" panose="02040503050406030204" pitchFamily="18" charset="0"/>
              </a:rPr>
              <a:t>A escolha do tema une o desejo pessoal de criar um sistema de gestão à vontade de apoiar a comunidade académica com boas práticas de programação. O trabalho servirá de base para consultas de outros estudantes e ajudará a modernizar a oficina do mestre </a:t>
            </a:r>
            <a:r>
              <a:rPr lang="pt-PT" sz="2400" cap="none" dirty="0" err="1">
                <a:latin typeface="Cambria" panose="02040503050406030204" pitchFamily="18" charset="0"/>
                <a:ea typeface="Cambria" panose="02040503050406030204" pitchFamily="18" charset="0"/>
              </a:rPr>
              <a:t>manuel</a:t>
            </a:r>
            <a:r>
              <a:rPr lang="pt-PT" sz="2400" cap="none" dirty="0">
                <a:latin typeface="Cambria" panose="02040503050406030204" pitchFamily="18" charset="0"/>
                <a:ea typeface="Cambria" panose="02040503050406030204" pitchFamily="18" charset="0"/>
              </a:rPr>
              <a:t>, que presta serviços essenciais no terreno. No fundo, o sistema responde a uma necessidade urgente de organizar o negócio.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09A36A36-EF14-EF64-C7C8-4BF46DBA9358}"/>
              </a:ext>
            </a:extLst>
          </p:cNvPr>
          <p:cNvSpPr txBox="1">
            <a:spLocks/>
          </p:cNvSpPr>
          <p:nvPr/>
        </p:nvSpPr>
        <p:spPr>
          <a:xfrm>
            <a:off x="0" y="4259526"/>
            <a:ext cx="7797662" cy="1343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 cap="none" dirty="0">
                <a:latin typeface="Cambria" panose="02040503050406030204" pitchFamily="18" charset="0"/>
                <a:ea typeface="Cambria" panose="02040503050406030204" pitchFamily="18" charset="0"/>
              </a:rPr>
              <a:t>Baseado na teoria geral dos sistemas de </a:t>
            </a:r>
            <a:r>
              <a:rPr lang="pt-PT" sz="2400" cap="none" dirty="0" err="1">
                <a:latin typeface="Cambria" panose="02040503050406030204" pitchFamily="18" charset="0"/>
                <a:ea typeface="Cambria" panose="02040503050406030204" pitchFamily="18" charset="0"/>
              </a:rPr>
              <a:t>Bertalanffy</a:t>
            </a:r>
            <a:r>
              <a:rPr lang="pt-PT" sz="2400" cap="none" dirty="0">
                <a:latin typeface="Cambria" panose="02040503050406030204" pitchFamily="18" charset="0"/>
                <a:ea typeface="Cambria" panose="02040503050406030204" pitchFamily="18" charset="0"/>
              </a:rPr>
              <a:t> (1968): Um sistema é um conjunto de elementos interligados que recebem entradas, processam e produzem saídas.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11DDDC31-9283-8B38-EF6B-EE164A2BB79A}"/>
              </a:ext>
            </a:extLst>
          </p:cNvPr>
          <p:cNvSpPr txBox="1">
            <a:spLocks/>
          </p:cNvSpPr>
          <p:nvPr/>
        </p:nvSpPr>
        <p:spPr>
          <a:xfrm>
            <a:off x="295408" y="3804168"/>
            <a:ext cx="8175421" cy="5505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dirty="0">
                <a:solidFill>
                  <a:schemeClr val="accent1">
                    <a:lumMod val="75000"/>
                  </a:schemeClr>
                </a:solidFill>
              </a:rPr>
              <a:t>Teoria de suporte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18402882-1937-14D9-87E9-B06433202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507" y="3702404"/>
            <a:ext cx="1841126" cy="184112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3696A812-500B-A371-9EBF-EC8B27BE8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" y="0"/>
            <a:ext cx="9141049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2CAFEAC1-E212-45C3-B794-A59C60F7BFEA}"/>
              </a:ext>
            </a:extLst>
          </p:cNvPr>
          <p:cNvSpPr txBox="1"/>
          <p:nvPr/>
        </p:nvSpPr>
        <p:spPr>
          <a:xfrm>
            <a:off x="1945604" y="396960"/>
            <a:ext cx="47056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2400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JUSTIFICATIVA</a:t>
            </a:r>
            <a:r>
              <a:rPr lang="pt-PT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x-none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Pergaminho: Horizontal 7">
            <a:extLst>
              <a:ext uri="{FF2B5EF4-FFF2-40B4-BE49-F238E27FC236}">
                <a16:creationId xmlns:a16="http://schemas.microsoft.com/office/drawing/2014/main" xmlns="" id="{1824A8D3-C452-4E51-9C4B-80E4D34DDBA7}"/>
              </a:ext>
            </a:extLst>
          </p:cNvPr>
          <p:cNvSpPr/>
          <p:nvPr/>
        </p:nvSpPr>
        <p:spPr>
          <a:xfrm>
            <a:off x="216958" y="2364839"/>
            <a:ext cx="8631634" cy="4536409"/>
          </a:xfrm>
          <a:prstGeom prst="horizontalScroll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escolha do tema justifica-se pelo objetivo de aplicar conhecimentos de Informática — especialmente em desenvolvimento web, bases de dados e engenharia de software — na criação de uma solução prática para apoiar a organização de uma cozinha de restaurante. O sistema digital proposto permitirá melhorar o controlo de pedidos, a gestão de ingredientes e a comunicação entre os profissionais, contribuindo para reduzir desperdícios e otimizar recursos. Além de beneficiar gestores e cozinheiros, o projeto tem valor académico e profissional, demonstrando a aplicação concreta da Engenharia Informática na digitalização de processos organizacionais. Quer que eu também simplifique em formato de resumo académico ou em justificativa profissional?</a:t>
            </a:r>
            <a:endParaRPr lang="x-none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BE3A6235-4214-5002-A59E-B54F569AB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332" y="2465499"/>
            <a:ext cx="1284668" cy="192700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FD5EDF50-B1D2-E5CE-A791-84B8E22A084F}"/>
              </a:ext>
            </a:extLst>
          </p:cNvPr>
          <p:cNvSpPr txBox="1"/>
          <p:nvPr/>
        </p:nvSpPr>
        <p:spPr>
          <a:xfrm>
            <a:off x="675139" y="1144025"/>
            <a:ext cx="747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>
                <a:latin typeface="Cambria" panose="02040503050406030204" pitchFamily="18" charset="0"/>
                <a:ea typeface="Cambria" panose="02040503050406030204" pitchFamily="18" charset="0"/>
              </a:rPr>
              <a:t>Instituto Superior Politécnico Dom Alexandre Cardeal do Nascimento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FC8C05AC-BB10-BBA4-3A73-9143476906C2}"/>
              </a:ext>
            </a:extLst>
          </p:cNvPr>
          <p:cNvSpPr txBox="1"/>
          <p:nvPr/>
        </p:nvSpPr>
        <p:spPr>
          <a:xfrm>
            <a:off x="2203898" y="1328691"/>
            <a:ext cx="461063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PT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DEPARTAMENTO DE ENGENHARIAS</a:t>
            </a:r>
            <a:endParaRPr lang="pt-PT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Marcador de Posição de Conteúdo 1">
            <a:extLst>
              <a:ext uri="{FF2B5EF4-FFF2-40B4-BE49-F238E27FC236}">
                <a16:creationId xmlns:a16="http://schemas.microsoft.com/office/drawing/2014/main" xmlns="" id="{C223D50A-7AB9-8D56-7E28-320525EE1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25712" y="0"/>
            <a:ext cx="9169711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204387CA-22C8-49BE-838B-5AE71D7A2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5639" y="10010"/>
            <a:ext cx="9169710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481B6213-3106-4802-802A-D830843C9EED}"/>
              </a:ext>
            </a:extLst>
          </p:cNvPr>
          <p:cNvSpPr txBox="1"/>
          <p:nvPr/>
        </p:nvSpPr>
        <p:spPr>
          <a:xfrm>
            <a:off x="2855741" y="387347"/>
            <a:ext cx="46845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400" b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Objectivo geral </a:t>
            </a:r>
            <a:endParaRPr lang="x-none" sz="24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eta: Movimento Para a Direita 2">
            <a:extLst>
              <a:ext uri="{FF2B5EF4-FFF2-40B4-BE49-F238E27FC236}">
                <a16:creationId xmlns:a16="http://schemas.microsoft.com/office/drawing/2014/main" xmlns="" id="{4CC86014-FCD5-4B15-8A4D-8CB61681E0C7}"/>
              </a:ext>
            </a:extLst>
          </p:cNvPr>
          <p:cNvSpPr/>
          <p:nvPr/>
        </p:nvSpPr>
        <p:spPr>
          <a:xfrm>
            <a:off x="453127" y="3538510"/>
            <a:ext cx="7920110" cy="2932143"/>
          </a:xfrm>
          <a:prstGeom prst="strip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Desenvolver um sistema web para a gestão integrada de pedidos, fichas técnicas e stock numa cozinha de restaurante.</a:t>
            </a:r>
            <a:r>
              <a:rPr lang="pt-PT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x-none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BE3A6235-4214-5002-A59E-B54F569AB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332" y="2465499"/>
            <a:ext cx="1284668" cy="192700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FD5EDF50-B1D2-E5CE-A791-84B8E22A084F}"/>
              </a:ext>
            </a:extLst>
          </p:cNvPr>
          <p:cNvSpPr txBox="1"/>
          <p:nvPr/>
        </p:nvSpPr>
        <p:spPr>
          <a:xfrm>
            <a:off x="675139" y="1144025"/>
            <a:ext cx="747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>
                <a:latin typeface="Cambria" panose="02040503050406030204" pitchFamily="18" charset="0"/>
                <a:ea typeface="Cambria" panose="02040503050406030204" pitchFamily="18" charset="0"/>
              </a:rPr>
              <a:t>Instituto Superior Politécnico Dom Alexandre Cardeal do Nascimento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FC8C05AC-BB10-BBA4-3A73-9143476906C2}"/>
              </a:ext>
            </a:extLst>
          </p:cNvPr>
          <p:cNvSpPr txBox="1"/>
          <p:nvPr/>
        </p:nvSpPr>
        <p:spPr>
          <a:xfrm>
            <a:off x="2203898" y="1328691"/>
            <a:ext cx="461063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PT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DEPARTAMENTO DE ENGENHARIAS</a:t>
            </a:r>
            <a:endParaRPr lang="pt-PT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Marcador de Posição de Conteúdo 1">
            <a:extLst>
              <a:ext uri="{FF2B5EF4-FFF2-40B4-BE49-F238E27FC236}">
                <a16:creationId xmlns:a16="http://schemas.microsoft.com/office/drawing/2014/main" xmlns="" id="{C223D50A-7AB9-8D56-7E28-320525EE1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25712" y="0"/>
            <a:ext cx="9169711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9C264800-2C80-479C-AFAD-968C2FA43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30" y="1"/>
            <a:ext cx="9270608" cy="685799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688F4DBA-5F93-4BC1-8046-295D7426856E}"/>
              </a:ext>
            </a:extLst>
          </p:cNvPr>
          <p:cNvSpPr txBox="1"/>
          <p:nvPr/>
        </p:nvSpPr>
        <p:spPr>
          <a:xfrm>
            <a:off x="2236763" y="280625"/>
            <a:ext cx="4670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2400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Objectivos específicos </a:t>
            </a:r>
            <a:endParaRPr lang="x-none" sz="2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ED25417E-5056-4819-9313-025405CB9886}"/>
              </a:ext>
            </a:extLst>
          </p:cNvPr>
          <p:cNvSpPr txBox="1"/>
          <p:nvPr/>
        </p:nvSpPr>
        <p:spPr>
          <a:xfrm>
            <a:off x="7238108" y="280625"/>
            <a:ext cx="4037539" cy="2304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PT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PT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PT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PT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PT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x-none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Balão: Seta Para a Direita 2">
            <a:extLst>
              <a:ext uri="{FF2B5EF4-FFF2-40B4-BE49-F238E27FC236}">
                <a16:creationId xmlns:a16="http://schemas.microsoft.com/office/drawing/2014/main" xmlns="" id="{31615321-9222-48CC-BD17-7585FF08FD50}"/>
              </a:ext>
            </a:extLst>
          </p:cNvPr>
          <p:cNvSpPr/>
          <p:nvPr/>
        </p:nvSpPr>
        <p:spPr>
          <a:xfrm>
            <a:off x="112879" y="3501205"/>
            <a:ext cx="3174453" cy="2163043"/>
          </a:xfrm>
          <a:prstGeom prst="righ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Identificar as necessidades relacionadas com a gestão de pedidos, fichas técnicas e stock;</a:t>
            </a:r>
            <a:endParaRPr lang="x-none" dirty="0">
              <a:solidFill>
                <a:schemeClr val="tx1"/>
              </a:solidFill>
            </a:endParaRPr>
          </a:p>
        </p:txBody>
      </p:sp>
      <p:sp>
        <p:nvSpPr>
          <p:cNvPr id="7" name="Balão: Seta Para Baixo 6">
            <a:extLst>
              <a:ext uri="{FF2B5EF4-FFF2-40B4-BE49-F238E27FC236}">
                <a16:creationId xmlns:a16="http://schemas.microsoft.com/office/drawing/2014/main" xmlns="" id="{C3AAE35D-7BD5-4305-97B6-D0A2892418F1}"/>
              </a:ext>
            </a:extLst>
          </p:cNvPr>
          <p:cNvSpPr/>
          <p:nvPr/>
        </p:nvSpPr>
        <p:spPr>
          <a:xfrm>
            <a:off x="2422198" y="2622682"/>
            <a:ext cx="2372603" cy="2604680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Projectar uma interface web intuitiva, responsiva e adequada aos utilizadores;</a:t>
            </a:r>
            <a:endParaRPr lang="x-none" dirty="0">
              <a:solidFill>
                <a:schemeClr val="tx1"/>
              </a:solidFill>
            </a:endParaRPr>
          </a:p>
        </p:txBody>
      </p:sp>
      <p:sp>
        <p:nvSpPr>
          <p:cNvPr id="10" name="Balão: Seta Para Cima 9">
            <a:extLst>
              <a:ext uri="{FF2B5EF4-FFF2-40B4-BE49-F238E27FC236}">
                <a16:creationId xmlns:a16="http://schemas.microsoft.com/office/drawing/2014/main" xmlns="" id="{B630689D-1C1B-4769-8096-EC397CE7D02C}"/>
              </a:ext>
            </a:extLst>
          </p:cNvPr>
          <p:cNvSpPr/>
          <p:nvPr/>
        </p:nvSpPr>
        <p:spPr>
          <a:xfrm>
            <a:off x="2199397" y="4336066"/>
            <a:ext cx="2893952" cy="2521933"/>
          </a:xfrm>
          <a:prstGeom prst="up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Implementar funcionalidades para o registo e acompanhamento de pedidos, gestão de pratos e fichas técnicas;</a:t>
            </a:r>
            <a:endParaRPr lang="x-none" dirty="0">
              <a:solidFill>
                <a:schemeClr val="tx1"/>
              </a:solidFill>
            </a:endParaRPr>
          </a:p>
        </p:txBody>
      </p:sp>
      <p:sp>
        <p:nvSpPr>
          <p:cNvPr id="12" name="Balão: Seta Para a Esquerda 11">
            <a:extLst>
              <a:ext uri="{FF2B5EF4-FFF2-40B4-BE49-F238E27FC236}">
                <a16:creationId xmlns:a16="http://schemas.microsoft.com/office/drawing/2014/main" xmlns="" id="{B50BE8A9-D3AA-410F-A9FE-5AF400227901}"/>
              </a:ext>
            </a:extLst>
          </p:cNvPr>
          <p:cNvSpPr/>
          <p:nvPr/>
        </p:nvSpPr>
        <p:spPr>
          <a:xfrm>
            <a:off x="3860680" y="3520735"/>
            <a:ext cx="3220120" cy="2118931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Integrar o controlo de stock com os pedidos e ingredientes utilizados na preparação dos pratos.</a:t>
            </a:r>
            <a:endParaRPr lang="x-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4232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Posição de Conteúdo 1">
            <a:extLst>
              <a:ext uri="{FF2B5EF4-FFF2-40B4-BE49-F238E27FC236}">
                <a16:creationId xmlns:a16="http://schemas.microsoft.com/office/drawing/2014/main" xmlns="" id="{C223D50A-7AB9-8D56-7E28-320525EE1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717F1707-E268-42B7-92A3-538E1A2FFD4A}"/>
              </a:ext>
            </a:extLst>
          </p:cNvPr>
          <p:cNvSpPr txBox="1"/>
          <p:nvPr/>
        </p:nvSpPr>
        <p:spPr>
          <a:xfrm>
            <a:off x="1941342" y="363756"/>
            <a:ext cx="4614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AO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Fundamentação teórica </a:t>
            </a:r>
            <a:endParaRPr lang="x-none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Bolha de Discurso: Retângulo 2">
            <a:extLst>
              <a:ext uri="{FF2B5EF4-FFF2-40B4-BE49-F238E27FC236}">
                <a16:creationId xmlns:a16="http://schemas.microsoft.com/office/drawing/2014/main" xmlns="" id="{8B2FB731-23FA-4304-B155-0A76B441080E}"/>
              </a:ext>
            </a:extLst>
          </p:cNvPr>
          <p:cNvSpPr/>
          <p:nvPr/>
        </p:nvSpPr>
        <p:spPr>
          <a:xfrm>
            <a:off x="157383" y="2971344"/>
            <a:ext cx="2665828" cy="2585323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 </a:t>
            </a:r>
            <a:b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Segundo Bertalanffy (2010), um sistema é um conjunto de elementos inter-relacionados que interagem entre si para alcançar um objectivo comum. </a:t>
            </a:r>
            <a:endParaRPr lang="x-none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Bolha de Discurso: Retângulo 3">
            <a:extLst>
              <a:ext uri="{FF2B5EF4-FFF2-40B4-BE49-F238E27FC236}">
                <a16:creationId xmlns:a16="http://schemas.microsoft.com/office/drawing/2014/main" xmlns="" id="{3EB7FCA3-6C39-48B0-AC75-84E8C440A246}"/>
              </a:ext>
            </a:extLst>
          </p:cNvPr>
          <p:cNvSpPr/>
          <p:nvPr/>
        </p:nvSpPr>
        <p:spPr>
          <a:xfrm>
            <a:off x="3010485" y="2954216"/>
            <a:ext cx="3172267" cy="2602452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 Web </a:t>
            </a:r>
            <a:b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Segundo Pressman (2021), um sistema web é uma aplicação disponibilizada através de uma rede e acedida por meio de um navegador, permitindo aos utilizadores executar diferentes funcionalidades.</a:t>
            </a:r>
            <a:endParaRPr lang="x-none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Bolha de Discurso: Retângulo 4">
            <a:extLst>
              <a:ext uri="{FF2B5EF4-FFF2-40B4-BE49-F238E27FC236}">
                <a16:creationId xmlns:a16="http://schemas.microsoft.com/office/drawing/2014/main" xmlns="" id="{C3AFFF51-D121-48BC-B9D0-B24BBE8271E5}"/>
              </a:ext>
            </a:extLst>
          </p:cNvPr>
          <p:cNvSpPr/>
          <p:nvPr/>
        </p:nvSpPr>
        <p:spPr>
          <a:xfrm>
            <a:off x="6370027" y="2954216"/>
            <a:ext cx="2612192" cy="3066684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Gestão de Pedidos </a:t>
            </a:r>
            <a:b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gestão de pedidos corresponde ao conjunto de processos relacionados com o registo, acompanhamento, preparação e conclusão dos pedidos realizados pelos clientes. </a:t>
            </a:r>
            <a:endParaRPr lang="x-none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78513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BE3A6235-4214-5002-A59E-B54F569AB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332" y="2465499"/>
            <a:ext cx="1284668" cy="192700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FD5EDF50-B1D2-E5CE-A791-84B8E22A084F}"/>
              </a:ext>
            </a:extLst>
          </p:cNvPr>
          <p:cNvSpPr txBox="1"/>
          <p:nvPr/>
        </p:nvSpPr>
        <p:spPr>
          <a:xfrm>
            <a:off x="675139" y="1144025"/>
            <a:ext cx="747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>
                <a:latin typeface="Cambria" panose="02040503050406030204" pitchFamily="18" charset="0"/>
                <a:ea typeface="Cambria" panose="02040503050406030204" pitchFamily="18" charset="0"/>
              </a:rPr>
              <a:t>Instituto Superior Politécnico Dom Alexandre Cardeal do Nascimento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FC8C05AC-BB10-BBA4-3A73-9143476906C2}"/>
              </a:ext>
            </a:extLst>
          </p:cNvPr>
          <p:cNvSpPr txBox="1"/>
          <p:nvPr/>
        </p:nvSpPr>
        <p:spPr>
          <a:xfrm>
            <a:off x="2203898" y="1328691"/>
            <a:ext cx="461063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PT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DEPARTAMENTO DE ENGENHARIAS</a:t>
            </a:r>
            <a:endParaRPr lang="pt-PT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Marcador de Posição de Conteúdo 1">
            <a:extLst>
              <a:ext uri="{FF2B5EF4-FFF2-40B4-BE49-F238E27FC236}">
                <a16:creationId xmlns:a16="http://schemas.microsoft.com/office/drawing/2014/main" xmlns="" id="{C223D50A-7AB9-8D56-7E28-320525EE1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686471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717F1707-E268-42B7-92A3-538E1A2FFD4A}"/>
              </a:ext>
            </a:extLst>
          </p:cNvPr>
          <p:cNvSpPr txBox="1"/>
          <p:nvPr/>
        </p:nvSpPr>
        <p:spPr>
          <a:xfrm>
            <a:off x="1941342" y="363756"/>
            <a:ext cx="4614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AO" sz="2800" b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Fundamentação teórica </a:t>
            </a:r>
            <a:endParaRPr lang="x-none" sz="28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Bolha de Discurso: Retângulo 16">
            <a:extLst>
              <a:ext uri="{FF2B5EF4-FFF2-40B4-BE49-F238E27FC236}">
                <a16:creationId xmlns:a16="http://schemas.microsoft.com/office/drawing/2014/main" xmlns="" id="{E125E9A9-AC58-4DDA-AFA9-32E359C1F284}"/>
              </a:ext>
            </a:extLst>
          </p:cNvPr>
          <p:cNvSpPr/>
          <p:nvPr/>
        </p:nvSpPr>
        <p:spPr>
          <a:xfrm>
            <a:off x="112542" y="2956345"/>
            <a:ext cx="3024553" cy="3416320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Ficha Técnica </a:t>
            </a:r>
            <a:b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ficha técnica é um instrumento utilizado para especificar os ingredientes, quantidades, modo de preparação e demais informações necessárias para a produção de um determinado prato.</a:t>
            </a:r>
            <a:endParaRPr lang="x-none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Bolha de Discurso: Retângulo 17">
            <a:extLst>
              <a:ext uri="{FF2B5EF4-FFF2-40B4-BE49-F238E27FC236}">
                <a16:creationId xmlns:a16="http://schemas.microsoft.com/office/drawing/2014/main" xmlns="" id="{40F28E48-0CBB-447D-BF93-0A3C84051FCB}"/>
              </a:ext>
            </a:extLst>
          </p:cNvPr>
          <p:cNvSpPr/>
          <p:nvPr/>
        </p:nvSpPr>
        <p:spPr>
          <a:xfrm>
            <a:off x="3302119" y="2956346"/>
            <a:ext cx="3024553" cy="2952086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 </a:t>
            </a:r>
            <a:b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stock corresponde ao conjunto de ingredientes e materiais disponíveis para utilização na cozinha, sendo necessário controlar as suas entradas, saídas e quantidades disponíveis. </a:t>
            </a:r>
            <a:endParaRPr lang="x-none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Bolha de Discurso: Retângulo 18">
            <a:extLst>
              <a:ext uri="{FF2B5EF4-FFF2-40B4-BE49-F238E27FC236}">
                <a16:creationId xmlns:a16="http://schemas.microsoft.com/office/drawing/2014/main" xmlns="" id="{B08DE4D5-9006-449D-8052-7DB349BB99E7}"/>
              </a:ext>
            </a:extLst>
          </p:cNvPr>
          <p:cNvSpPr/>
          <p:nvPr/>
        </p:nvSpPr>
        <p:spPr>
          <a:xfrm>
            <a:off x="6424427" y="2956346"/>
            <a:ext cx="2607031" cy="3163100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Restaurante </a:t>
            </a:r>
            <a:b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restaurante é um estabelecimento destinado à preparação e comercialização de refeições e bebidas, envolvendo diferentes processos de atendimento, produção e gestão.</a:t>
            </a:r>
            <a:endParaRPr lang="x-none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66901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35F934-1127-F820-72D5-54AE44974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94" y="341152"/>
            <a:ext cx="7797662" cy="697584"/>
          </a:xfrm>
        </p:spPr>
        <p:txBody>
          <a:bodyPr/>
          <a:lstStyle/>
          <a:p>
            <a:r>
              <a:rPr lang="pt-PT" dirty="0">
                <a:solidFill>
                  <a:schemeClr val="accent1"/>
                </a:solidFill>
              </a:rPr>
              <a:t>Estrutura do trabalho</a:t>
            </a:r>
            <a:endParaRPr lang="pt-AO" dirty="0">
              <a:solidFill>
                <a:schemeClr val="accent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CA66B7A0-078C-C9CE-9B32-C6A27AB2C6E7}"/>
              </a:ext>
            </a:extLst>
          </p:cNvPr>
          <p:cNvSpPr txBox="1"/>
          <p:nvPr/>
        </p:nvSpPr>
        <p:spPr>
          <a:xfrm>
            <a:off x="239794" y="1038736"/>
            <a:ext cx="838042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Cambria" panose="02040503050406030204" pitchFamily="18" charset="0"/>
                <a:ea typeface="Cambria" panose="02040503050406030204" pitchFamily="18" charset="0"/>
              </a:rPr>
              <a:t>Capítulo I – Enquadramento teórico-conceptual: </a:t>
            </a:r>
            <a:r>
              <a:rPr lang="pt-BR" sz="2800" dirty="0">
                <a:latin typeface="Cambria" panose="02040503050406030204" pitchFamily="18" charset="0"/>
                <a:ea typeface="Cambria" panose="02040503050406030204" pitchFamily="18" charset="0"/>
              </a:rPr>
              <a:t>apresenta as definições de termos e conceitos bem como as principais teorias que sustentam o trabalho.</a:t>
            </a:r>
          </a:p>
          <a:p>
            <a:pPr algn="just"/>
            <a:r>
              <a:rPr lang="pt-BR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pt-BR" sz="2800" b="1" dirty="0">
                <a:latin typeface="Cambria" panose="02040503050406030204" pitchFamily="18" charset="0"/>
                <a:ea typeface="Cambria" panose="02040503050406030204" pitchFamily="18" charset="0"/>
              </a:rPr>
              <a:t>Capítulo II - Fundamentação Metodológica:  </a:t>
            </a:r>
            <a:r>
              <a:rPr lang="pt-BR" sz="2800" dirty="0">
                <a:latin typeface="Cambria" panose="02040503050406030204" pitchFamily="18" charset="0"/>
                <a:ea typeface="Cambria" panose="02040503050406030204" pitchFamily="18" charset="0"/>
              </a:rPr>
              <a:t>apresenta o campo de estudo, tipo de modelo de pesquisa, população e amostra e as técnicas de recolha de dados. </a:t>
            </a:r>
          </a:p>
          <a:p>
            <a:pPr algn="just"/>
            <a:r>
              <a:rPr lang="pt-BR" sz="2800" b="1" dirty="0">
                <a:latin typeface="Cambria" panose="02040503050406030204" pitchFamily="18" charset="0"/>
                <a:ea typeface="Cambria" panose="02040503050406030204" pitchFamily="18" charset="0"/>
              </a:rPr>
              <a:t>Capítulo III - Análise, interpretação apresentação Dos Resultado: </a:t>
            </a:r>
            <a:r>
              <a:rPr lang="pt-BR" sz="2800" dirty="0">
                <a:latin typeface="Cambria" panose="02040503050406030204" pitchFamily="18" charset="0"/>
                <a:ea typeface="Cambria" panose="02040503050406030204" pitchFamily="18" charset="0"/>
              </a:rPr>
              <a:t>faz a descrição dos resultados obtidos como o desenvolvimento do sistema.</a:t>
            </a:r>
            <a:endParaRPr lang="pt-AO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xmlns="" id="{382418C6-6312-3A0F-AEB5-11509BF2E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885A65AC-A763-48F0-8540-A74DECA8D9A9}"/>
              </a:ext>
            </a:extLst>
          </p:cNvPr>
          <p:cNvSpPr txBox="1"/>
          <p:nvPr/>
        </p:nvSpPr>
        <p:spPr>
          <a:xfrm>
            <a:off x="2514081" y="110319"/>
            <a:ext cx="46142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AO" sz="2400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Fundamentação metodológica </a:t>
            </a:r>
            <a:endParaRPr lang="x-none" sz="2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Balão: Linha em Ângulo Duplo Sem Limite 6">
            <a:extLst>
              <a:ext uri="{FF2B5EF4-FFF2-40B4-BE49-F238E27FC236}">
                <a16:creationId xmlns:a16="http://schemas.microsoft.com/office/drawing/2014/main" xmlns="" id="{B0BE1DC8-0B82-4FC5-AF9A-D45ADA3DAF82}"/>
              </a:ext>
            </a:extLst>
          </p:cNvPr>
          <p:cNvSpPr/>
          <p:nvPr/>
        </p:nvSpPr>
        <p:spPr>
          <a:xfrm>
            <a:off x="903604" y="2592278"/>
            <a:ext cx="1805468" cy="612648"/>
          </a:xfrm>
          <a:prstGeom prst="callout3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Natureza</a:t>
            </a:r>
            <a:endParaRPr lang="x-none" b="1" dirty="0">
              <a:solidFill>
                <a:srgbClr val="0070C0"/>
              </a:solidFill>
            </a:endParaRP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xmlns="" id="{E8206315-CD2A-4D31-A29C-FF7B3F98FDCB}"/>
              </a:ext>
            </a:extLst>
          </p:cNvPr>
          <p:cNvSpPr/>
          <p:nvPr/>
        </p:nvSpPr>
        <p:spPr>
          <a:xfrm>
            <a:off x="1617785" y="1834185"/>
            <a:ext cx="464233" cy="759655"/>
          </a:xfrm>
          <a:custGeom>
            <a:avLst/>
            <a:gdLst>
              <a:gd name="connsiteX0" fmla="*/ 0 w 15130"/>
              <a:gd name="connsiteY0" fmla="*/ 759655 h 759655"/>
              <a:gd name="connsiteX1" fmla="*/ 14068 w 15130"/>
              <a:gd name="connsiteY1" fmla="*/ 0 h 759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130" h="759655">
                <a:moveTo>
                  <a:pt x="0" y="759655"/>
                </a:moveTo>
                <a:cubicBezTo>
                  <a:pt x="20882" y="300265"/>
                  <a:pt x="14068" y="553436"/>
                  <a:pt x="14068" y="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68C7489E-48F7-4D3C-9BDE-60FF283B5FD4}"/>
              </a:ext>
            </a:extLst>
          </p:cNvPr>
          <p:cNvSpPr/>
          <p:nvPr/>
        </p:nvSpPr>
        <p:spPr>
          <a:xfrm>
            <a:off x="523777" y="1404246"/>
            <a:ext cx="2424444" cy="4667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Pesquisa aplicada</a:t>
            </a:r>
          </a:p>
        </p:txBody>
      </p:sp>
      <p:sp>
        <p:nvSpPr>
          <p:cNvPr id="12" name="Balão: Linha em Ângulo Com Barra de Destaque 11">
            <a:extLst>
              <a:ext uri="{FF2B5EF4-FFF2-40B4-BE49-F238E27FC236}">
                <a16:creationId xmlns:a16="http://schemas.microsoft.com/office/drawing/2014/main" xmlns="" id="{7619A0E6-C469-4F55-BFEB-04ED9258FB13}"/>
              </a:ext>
            </a:extLst>
          </p:cNvPr>
          <p:cNvSpPr/>
          <p:nvPr/>
        </p:nvSpPr>
        <p:spPr>
          <a:xfrm>
            <a:off x="3709699" y="3556835"/>
            <a:ext cx="1323131" cy="963637"/>
          </a:xfrm>
          <a:prstGeom prst="accentCallout2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P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t-PT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Métodos</a:t>
            </a:r>
          </a:p>
        </p:txBody>
      </p:sp>
      <p:cxnSp>
        <p:nvCxnSpPr>
          <p:cNvPr id="14" name="Conexão: Ângulo Reto 13">
            <a:extLst>
              <a:ext uri="{FF2B5EF4-FFF2-40B4-BE49-F238E27FC236}">
                <a16:creationId xmlns:a16="http://schemas.microsoft.com/office/drawing/2014/main" xmlns="" id="{B77AC18C-11C5-4BFD-A77C-DC492FE5EA37}"/>
              </a:ext>
            </a:extLst>
          </p:cNvPr>
          <p:cNvCxnSpPr/>
          <p:nvPr/>
        </p:nvCxnSpPr>
        <p:spPr>
          <a:xfrm>
            <a:off x="2773967" y="2971500"/>
            <a:ext cx="914400" cy="9144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xão: Curva 15">
            <a:extLst>
              <a:ext uri="{FF2B5EF4-FFF2-40B4-BE49-F238E27FC236}">
                <a16:creationId xmlns:a16="http://schemas.microsoft.com/office/drawing/2014/main" xmlns="" id="{94E6FA90-F26D-4420-98B1-CC1BFAFFCD44}"/>
              </a:ext>
            </a:extLst>
          </p:cNvPr>
          <p:cNvCxnSpPr>
            <a:stCxn id="12" idx="1"/>
          </p:cNvCxnSpPr>
          <p:nvPr/>
        </p:nvCxnSpPr>
        <p:spPr>
          <a:xfrm rot="5400000">
            <a:off x="3385573" y="4216354"/>
            <a:ext cx="681574" cy="1289810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C878277B-79BB-48F5-B8D7-808CCCA84C63}"/>
              </a:ext>
            </a:extLst>
          </p:cNvPr>
          <p:cNvSpPr/>
          <p:nvPr/>
        </p:nvSpPr>
        <p:spPr>
          <a:xfrm>
            <a:off x="523777" y="4627242"/>
            <a:ext cx="2565122" cy="999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/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Pesquisa Descritiva </a:t>
            </a:r>
          </a:p>
          <a:p>
            <a:pPr marL="0" lvl="1"/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Pesquisa Bibliográfica </a:t>
            </a:r>
          </a:p>
        </p:txBody>
      </p:sp>
      <p:cxnSp>
        <p:nvCxnSpPr>
          <p:cNvPr id="19" name="Conexão: Ângulo Reto 18">
            <a:extLst>
              <a:ext uri="{FF2B5EF4-FFF2-40B4-BE49-F238E27FC236}">
                <a16:creationId xmlns:a16="http://schemas.microsoft.com/office/drawing/2014/main" xmlns="" id="{5F1BAA48-F837-4259-AF68-757C823CF393}"/>
              </a:ext>
            </a:extLst>
          </p:cNvPr>
          <p:cNvCxnSpPr/>
          <p:nvPr/>
        </p:nvCxnSpPr>
        <p:spPr>
          <a:xfrm>
            <a:off x="5016160" y="3899129"/>
            <a:ext cx="914400" cy="914400"/>
          </a:xfrm>
          <a:prstGeom prst="bentConnector3">
            <a:avLst>
              <a:gd name="adj1" fmla="val 3923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51BEE6B9-DD16-48AD-AB36-F8F7511E9790}"/>
              </a:ext>
            </a:extLst>
          </p:cNvPr>
          <p:cNvSpPr/>
          <p:nvPr/>
        </p:nvSpPr>
        <p:spPr>
          <a:xfrm>
            <a:off x="5779625" y="4104500"/>
            <a:ext cx="1490409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PT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Abordagem</a:t>
            </a:r>
          </a:p>
        </p:txBody>
      </p:sp>
      <p:sp>
        <p:nvSpPr>
          <p:cNvPr id="23" name="Fluxograma: Processo 22">
            <a:extLst>
              <a:ext uri="{FF2B5EF4-FFF2-40B4-BE49-F238E27FC236}">
                <a16:creationId xmlns:a16="http://schemas.microsoft.com/office/drawing/2014/main" xmlns="" id="{9D4842D0-A272-4040-A633-39511B334DF4}"/>
              </a:ext>
            </a:extLst>
          </p:cNvPr>
          <p:cNvSpPr/>
          <p:nvPr/>
        </p:nvSpPr>
        <p:spPr>
          <a:xfrm>
            <a:off x="3794426" y="1682553"/>
            <a:ext cx="2285450" cy="1104311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Pesquisa quali-quantitativa</a:t>
            </a:r>
          </a:p>
        </p:txBody>
      </p:sp>
      <p:cxnSp>
        <p:nvCxnSpPr>
          <p:cNvPr id="25" name="Conexão: Curva 24">
            <a:extLst>
              <a:ext uri="{FF2B5EF4-FFF2-40B4-BE49-F238E27FC236}">
                <a16:creationId xmlns:a16="http://schemas.microsoft.com/office/drawing/2014/main" xmlns="" id="{0820F1CA-D293-4D7E-BB4D-7E70504C6784}"/>
              </a:ext>
            </a:extLst>
          </p:cNvPr>
          <p:cNvCxnSpPr>
            <a:stCxn id="20" idx="0"/>
          </p:cNvCxnSpPr>
          <p:nvPr/>
        </p:nvCxnSpPr>
        <p:spPr>
          <a:xfrm rot="16200000" flipV="1">
            <a:off x="5315309" y="2894978"/>
            <a:ext cx="1345741" cy="1073303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xão reta 28">
            <a:extLst>
              <a:ext uri="{FF2B5EF4-FFF2-40B4-BE49-F238E27FC236}">
                <a16:creationId xmlns:a16="http://schemas.microsoft.com/office/drawing/2014/main" xmlns="" id="{4954E546-24B7-4A49-A683-80907A463D7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524830" y="5018900"/>
            <a:ext cx="549893" cy="421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uxograma: Processo 30">
            <a:extLst>
              <a:ext uri="{FF2B5EF4-FFF2-40B4-BE49-F238E27FC236}">
                <a16:creationId xmlns:a16="http://schemas.microsoft.com/office/drawing/2014/main" xmlns="" id="{56B5948C-33E3-40C2-8269-E19C9020341A}"/>
              </a:ext>
            </a:extLst>
          </p:cNvPr>
          <p:cNvSpPr/>
          <p:nvPr/>
        </p:nvSpPr>
        <p:spPr>
          <a:xfrm>
            <a:off x="6387828" y="5439941"/>
            <a:ext cx="2201297" cy="61264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PT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Técnica de pesquisa</a:t>
            </a:r>
          </a:p>
        </p:txBody>
      </p:sp>
      <p:cxnSp>
        <p:nvCxnSpPr>
          <p:cNvPr id="33" name="Conexão: Curva 32">
            <a:extLst>
              <a:ext uri="{FF2B5EF4-FFF2-40B4-BE49-F238E27FC236}">
                <a16:creationId xmlns:a16="http://schemas.microsoft.com/office/drawing/2014/main" xmlns="" id="{95690FAF-AAA6-4410-96A8-5599E946E1F7}"/>
              </a:ext>
            </a:extLst>
          </p:cNvPr>
          <p:cNvCxnSpPr>
            <a:stCxn id="31" idx="1"/>
          </p:cNvCxnSpPr>
          <p:nvPr/>
        </p:nvCxnSpPr>
        <p:spPr>
          <a:xfrm rot="10800000" flipV="1">
            <a:off x="5219114" y="5746264"/>
            <a:ext cx="1168714" cy="618377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uxograma: Processo 33">
            <a:extLst>
              <a:ext uri="{FF2B5EF4-FFF2-40B4-BE49-F238E27FC236}">
                <a16:creationId xmlns:a16="http://schemas.microsoft.com/office/drawing/2014/main" xmlns="" id="{4945CE57-7EB3-402E-8A88-4FF336359C5B}"/>
              </a:ext>
            </a:extLst>
          </p:cNvPr>
          <p:cNvSpPr/>
          <p:nvPr/>
        </p:nvSpPr>
        <p:spPr>
          <a:xfrm>
            <a:off x="2756174" y="5733847"/>
            <a:ext cx="2462940" cy="902623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/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Questionário;</a:t>
            </a:r>
          </a:p>
          <a:p>
            <a:pPr marL="0" lvl="1"/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Observação.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2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8570A1B-040D-5B30-0104-A7D7A2F87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7E04E30-0966-F6AA-F1B3-3C04B4C6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3116687"/>
            <a:ext cx="7797662" cy="2353613"/>
          </a:xfrm>
        </p:spPr>
        <p:txBody>
          <a:bodyPr/>
          <a:lstStyle/>
          <a:p>
            <a:pPr algn="ctr"/>
            <a:r>
              <a:rPr lang="pt-PT" b="1" kern="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CAPÍTULO II: </a:t>
            </a:r>
            <a:r>
              <a:rPr lang="pt-PT" b="1" kern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FUNDAMENTAÇÃO METODOLÓGICA</a:t>
            </a:r>
            <a:endParaRPr lang="pt-PT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AA4A9625-BFA2-14FA-377B-5AA69C0A8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37785" y="901521"/>
            <a:ext cx="2775397" cy="277539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xmlns="" id="{B3D498F0-9005-EF04-4883-5F0ACE53A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27020"/>
            <a:ext cx="9144000" cy="5730980"/>
          </a:xfrm>
          <a:prstGeom prst="rect">
            <a:avLst/>
          </a:prstGeom>
        </p:spPr>
      </p:pic>
      <p:sp>
        <p:nvSpPr>
          <p:cNvPr id="4" name="Pergaminho: Horizontal 3">
            <a:extLst>
              <a:ext uri="{FF2B5EF4-FFF2-40B4-BE49-F238E27FC236}">
                <a16:creationId xmlns:a16="http://schemas.microsoft.com/office/drawing/2014/main" xmlns="" id="{52212CB3-7DEB-40CE-81BE-73D3254C98EB}"/>
              </a:ext>
            </a:extLst>
          </p:cNvPr>
          <p:cNvSpPr/>
          <p:nvPr/>
        </p:nvSpPr>
        <p:spPr>
          <a:xfrm>
            <a:off x="0" y="-131752"/>
            <a:ext cx="9144000" cy="1411912"/>
          </a:xfrm>
          <a:prstGeom prst="horizontalScroll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Desenvolvimento de Software</a:t>
            </a:r>
          </a:p>
        </p:txBody>
      </p:sp>
    </p:spTree>
    <p:extLst>
      <p:ext uri="{BB962C8B-B14F-4D97-AF65-F5344CB8AC3E}">
        <p14:creationId xmlns:p14="http://schemas.microsoft.com/office/powerpoint/2010/main" val="26103522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ADEFF4C-2EAF-4BCD-F857-2069AA262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3116687"/>
            <a:ext cx="7797662" cy="2353613"/>
          </a:xfrm>
        </p:spPr>
        <p:txBody>
          <a:bodyPr/>
          <a:lstStyle/>
          <a:p>
            <a:pPr algn="ctr"/>
            <a:r>
              <a:rPr lang="pt-PT" b="1" kern="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CAPÍTULO I: </a:t>
            </a:r>
            <a:r>
              <a:rPr lang="pt-PT" b="1" kern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ENQUADRAMENTO TEÓRICO-CONCEPTUAL</a:t>
            </a:r>
            <a:br>
              <a:rPr lang="pt-PT" b="1" kern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pt-PT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BFE1F664-00D0-F8AD-6F2B-1EE922619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785" y="901521"/>
            <a:ext cx="2775397" cy="277539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xmlns="" id="{F1BDD2C5-28E4-812E-C7E2-AE16BA8AE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9144001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2237FC51-1BFE-4634-A199-95C3B93B7B13}"/>
              </a:ext>
            </a:extLst>
          </p:cNvPr>
          <p:cNvSpPr txBox="1"/>
          <p:nvPr/>
        </p:nvSpPr>
        <p:spPr>
          <a:xfrm>
            <a:off x="1181686" y="255190"/>
            <a:ext cx="68650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 DE ARQUITECTURA DO SISTEMA</a:t>
            </a:r>
            <a:endParaRPr lang="pt-PT" sz="28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DA1210BC-0308-415F-8A4C-D0A171ACB0A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78" y="2616590"/>
            <a:ext cx="8207387" cy="39862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781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ADEFF4C-2EAF-4BCD-F857-2069AA262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3116687"/>
            <a:ext cx="7797662" cy="2353613"/>
          </a:xfrm>
        </p:spPr>
        <p:txBody>
          <a:bodyPr/>
          <a:lstStyle/>
          <a:p>
            <a:pPr algn="ctr"/>
            <a:r>
              <a:rPr lang="pt-PT" b="1" kern="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CAPÍTULO I: </a:t>
            </a:r>
            <a:r>
              <a:rPr lang="pt-PT" b="1" kern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ENQUADRAMENTO TEÓRICO-CONCEPTUAL</a:t>
            </a:r>
            <a:br>
              <a:rPr lang="pt-PT" b="1" kern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pt-PT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BFE1F664-00D0-F8AD-6F2B-1EE922619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785" y="901521"/>
            <a:ext cx="2775397" cy="277539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xmlns="" id="{F1BDD2C5-28E4-812E-C7E2-AE16BA8AE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9144001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FB00FC11-D217-4686-9E95-4D1F59A02AF2}"/>
              </a:ext>
            </a:extLst>
          </p:cNvPr>
          <p:cNvSpPr txBox="1"/>
          <p:nvPr/>
        </p:nvSpPr>
        <p:spPr>
          <a:xfrm>
            <a:off x="900331" y="420244"/>
            <a:ext cx="74116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 DE IMPLEMENTAÇÃO</a:t>
            </a:r>
            <a:endParaRPr lang="pt-PT" sz="2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1D44BA2C-AB97-4D2E-A74B-7CC574761B0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705" y="1491723"/>
            <a:ext cx="6346660" cy="5260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0246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ADEFF4C-2EAF-4BCD-F857-2069AA262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3116687"/>
            <a:ext cx="7797662" cy="2353613"/>
          </a:xfrm>
        </p:spPr>
        <p:txBody>
          <a:bodyPr/>
          <a:lstStyle/>
          <a:p>
            <a:pPr algn="ctr"/>
            <a:r>
              <a:rPr lang="pt-PT" b="1" kern="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CAPÍTULO I: </a:t>
            </a:r>
            <a:r>
              <a:rPr lang="pt-PT" b="1" kern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ENQUADRAMENTO TEÓRICO-CONCEPTUAL</a:t>
            </a:r>
            <a:br>
              <a:rPr lang="pt-PT" b="1" kern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pt-PT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BFE1F664-00D0-F8AD-6F2B-1EE922619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785" y="901521"/>
            <a:ext cx="2775397" cy="277539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xmlns="" id="{F1BDD2C5-28E4-812E-C7E2-AE16BA8AE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9144001" cy="6858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E4B01B3B-BD95-4A36-B28E-CBFEA837D602}"/>
              </a:ext>
            </a:extLst>
          </p:cNvPr>
          <p:cNvSpPr txBox="1"/>
          <p:nvPr/>
        </p:nvSpPr>
        <p:spPr>
          <a:xfrm>
            <a:off x="3390314" y="290713"/>
            <a:ext cx="4614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AO" sz="2800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 Proposto</a:t>
            </a:r>
            <a:endParaRPr lang="x-none" sz="28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Bolha de Discurso: Retângulo 10">
            <a:extLst>
              <a:ext uri="{FF2B5EF4-FFF2-40B4-BE49-F238E27FC236}">
                <a16:creationId xmlns:a16="http://schemas.microsoft.com/office/drawing/2014/main" xmlns="" id="{7A5B02D7-BF7A-4F99-A62B-A41239C3D726}"/>
              </a:ext>
            </a:extLst>
          </p:cNvPr>
          <p:cNvSpPr/>
          <p:nvPr/>
        </p:nvSpPr>
        <p:spPr>
          <a:xfrm>
            <a:off x="2606453" y="1982739"/>
            <a:ext cx="6366731" cy="4241026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sistema desenvolvido tem como finalidade integrar os principais processos da cozinha do restaurante numa única plataforma web.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Entre as principais funcionalidades encontram-se: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Gestão de utilizadores;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Registo e gestão de pedidos;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Acompanhamento do estado dos pedidos;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Cadastro de pratos;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Criação e gestão de fichas técnicas;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Cadastro de ingredientes;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Controlo de stock;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Registo de entradas e saídas;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Associação entre pedidos, pratos, fichas técnicas e ingredientes;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Consulta de informações e relatórios.</a:t>
            </a: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215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xmlns="" id="{B314B580-709A-730F-B4FE-94B57F084F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6930788"/>
              </p:ext>
            </p:extLst>
          </p:nvPr>
        </p:nvGraphicFramePr>
        <p:xfrm>
          <a:off x="295053" y="547577"/>
          <a:ext cx="8330609" cy="57628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9F7BF884-9083-9BCA-A602-89CD95F7F309}"/>
              </a:ext>
            </a:extLst>
          </p:cNvPr>
          <p:cNvSpPr txBox="1"/>
          <p:nvPr/>
        </p:nvSpPr>
        <p:spPr>
          <a:xfrm>
            <a:off x="404038" y="103421"/>
            <a:ext cx="811264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PT" sz="3200" b="1" dirty="0">
                <a:solidFill>
                  <a:schemeClr val="accent1">
                    <a:lumMod val="75000"/>
                  </a:schemeClr>
                </a:solidFill>
                <a:effectLst/>
                <a:latin typeface="Aharoni" panose="02010803020104030203" pitchFamily="2" charset="-79"/>
                <a:ea typeface="Cambria" panose="02040503050406030204" pitchFamily="18" charset="0"/>
                <a:cs typeface="Aharoni" panose="02010803020104030203" pitchFamily="2" charset="-79"/>
              </a:rPr>
              <a:t>DEFINIÇÃO DE TERMOS E CONCEITOS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xmlns="" id="{2E7E4981-FD4A-AAE5-708A-FE4615A330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0712" y="162856"/>
            <a:ext cx="769442" cy="76944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xmlns="" id="{CB9C3912-4AFB-DFCC-74DD-5F5DD0092B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874489"/>
            <a:ext cx="1052622" cy="1052622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xmlns="" id="{0F024A1E-EBF7-821A-2E8F-3CFD2B4311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0"/>
            <a:ext cx="9144000" cy="6858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62306CDF-58DB-43BA-B14F-2CB6C8C2153A}"/>
              </a:ext>
            </a:extLst>
          </p:cNvPr>
          <p:cNvSpPr txBox="1"/>
          <p:nvPr/>
        </p:nvSpPr>
        <p:spPr>
          <a:xfrm>
            <a:off x="2481866" y="414286"/>
            <a:ext cx="46142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Apresentação do sistema </a:t>
            </a:r>
          </a:p>
        </p:txBody>
      </p:sp>
      <p:sp>
        <p:nvSpPr>
          <p:cNvPr id="3" name="Retângulo 2"/>
          <p:cNvSpPr/>
          <p:nvPr/>
        </p:nvSpPr>
        <p:spPr>
          <a:xfrm>
            <a:off x="3036964" y="3244334"/>
            <a:ext cx="3070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funcionalidades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9" action="ppaction://hlinkfile"/>
              </a:rPr>
              <a:t>encontram-se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07946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CE61779D-CF0C-7D81-8B92-CE5C7A3854E5}"/>
              </a:ext>
            </a:extLst>
          </p:cNvPr>
          <p:cNvSpPr txBox="1"/>
          <p:nvPr/>
        </p:nvSpPr>
        <p:spPr>
          <a:xfrm>
            <a:off x="1507865" y="922748"/>
            <a:ext cx="73577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2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Breve abordagem histórica das oficinas</a:t>
            </a:r>
            <a:endParaRPr lang="pt-PT" sz="3200" b="1" dirty="0">
              <a:solidFill>
                <a:schemeClr val="accent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B1326F14-DD3E-92D6-9C5F-99D5E19C75B9}"/>
              </a:ext>
            </a:extLst>
          </p:cNvPr>
          <p:cNvSpPr txBox="1"/>
          <p:nvPr/>
        </p:nvSpPr>
        <p:spPr>
          <a:xfrm>
            <a:off x="451883" y="1477023"/>
            <a:ext cx="7899991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contexto específico da oficina automóvel, a sua origem está associada ao aparecimento do automóvel no final do século XIX. Conforme Gomes e Silva (2016), à medida que os veículos se tornaram mais complexos e amplamente utilizados, surgiu a </a:t>
            </a:r>
            <a:r>
              <a:rPr lang="pt-PT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necessiade</a:t>
            </a:r>
            <a:r>
              <a:rPr lang="pt-PT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espaços especializados para manutenção, diagnóstico e reparação, dando origem às primeiras oficinas automóveis.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90CE7D5C-F046-8CE0-F2CF-1AE2F3D24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838" y="297712"/>
            <a:ext cx="1707928" cy="170792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xmlns="" id="{09CC2275-F62D-6B81-822B-DB1B25127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5194"/>
            <a:ext cx="9144001" cy="6863194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FE8A2E84-A964-4227-B0B9-55E2CB905DB6}"/>
              </a:ext>
            </a:extLst>
          </p:cNvPr>
          <p:cNvSpPr txBox="1"/>
          <p:nvPr/>
        </p:nvSpPr>
        <p:spPr>
          <a:xfrm>
            <a:off x="1885071" y="71483"/>
            <a:ext cx="4614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</a:p>
        </p:txBody>
      </p:sp>
      <p:sp>
        <p:nvSpPr>
          <p:cNvPr id="6" name="Pergaminho: Horizontal 5">
            <a:extLst>
              <a:ext uri="{FF2B5EF4-FFF2-40B4-BE49-F238E27FC236}">
                <a16:creationId xmlns:a16="http://schemas.microsoft.com/office/drawing/2014/main" xmlns="" id="{A8CB5128-12C1-4AA5-A79F-CFD04087C2E4}"/>
              </a:ext>
            </a:extLst>
          </p:cNvPr>
          <p:cNvSpPr/>
          <p:nvPr/>
        </p:nvSpPr>
        <p:spPr>
          <a:xfrm>
            <a:off x="253218" y="3043672"/>
            <a:ext cx="8612377" cy="3388572"/>
          </a:xfrm>
          <a:prstGeom prst="horizontalScroll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 o desenvolvimento do sistema, foi possível propor uma solução para melhorar a gestão dos pedidos, fichas técnicas e stock numa cozinha de restaurante.</a:t>
            </a:r>
          </a:p>
          <a:p>
            <a:pPr algn="just"/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integração destas áreas permite centralizar as informações, facilitar o acompanhamento dos pedidos, melhorar o controlo dos ingredientes e reduzir tarefas manuais.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Desta forma, o sistema contribui para uma gestão mais organizada, eficiente e integrada dos processos da cozinha.</a:t>
            </a: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7815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BF6A7759-F27B-DF13-6945-498F08FD30DF}"/>
              </a:ext>
            </a:extLst>
          </p:cNvPr>
          <p:cNvSpPr txBox="1"/>
          <p:nvPr/>
        </p:nvSpPr>
        <p:spPr>
          <a:xfrm>
            <a:off x="975268" y="1620775"/>
            <a:ext cx="5981713" cy="28867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PT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Desafios</a:t>
            </a:r>
          </a:p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PT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Obsolescência Rápida:</a:t>
            </a:r>
          </a:p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PT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Segurança da Informação: </a:t>
            </a:r>
          </a:p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PT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Competição Agressiva</a:t>
            </a:r>
            <a:endParaRPr lang="pt-PT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6E6969B7-021C-E9C7-FF89-6796C2C0A8A6}"/>
              </a:ext>
            </a:extLst>
          </p:cNvPr>
          <p:cNvSpPr txBox="1"/>
          <p:nvPr/>
        </p:nvSpPr>
        <p:spPr>
          <a:xfrm>
            <a:off x="1573618" y="424751"/>
            <a:ext cx="63582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2800" b="1" dirty="0">
                <a:solidFill>
                  <a:schemeClr val="accent1"/>
                </a:solidFill>
                <a:latin typeface="Aharoni" panose="02010803020104030203" pitchFamily="2" charset="-79"/>
                <a:ea typeface="Times New Roman" panose="02020603050405020304" pitchFamily="18" charset="0"/>
                <a:cs typeface="Aharoni" panose="02010803020104030203" pitchFamily="2" charset="-79"/>
              </a:rPr>
              <a:t>D</a:t>
            </a:r>
            <a:r>
              <a:rPr lang="pt-PT" sz="2800" b="1" dirty="0">
                <a:solidFill>
                  <a:schemeClr val="accent1"/>
                </a:solidFill>
                <a:effectLst/>
                <a:latin typeface="Aharoni" panose="02010803020104030203" pitchFamily="2" charset="-79"/>
                <a:ea typeface="Times New Roman" panose="02020603050405020304" pitchFamily="18" charset="0"/>
                <a:cs typeface="Aharoni" panose="02010803020104030203" pitchFamily="2" charset="-79"/>
              </a:rPr>
              <a:t>esafios no sector de gestão de oficinas.</a:t>
            </a:r>
            <a:endParaRPr lang="pt-PT" sz="2800" b="1" dirty="0">
              <a:solidFill>
                <a:schemeClr val="accent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xmlns="" id="{8D99BC09-BA39-D772-6BEC-B8A3471E0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331" y="3429000"/>
            <a:ext cx="1822947" cy="182294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xmlns="" id="{6B3DD6EB-E8AC-2CBC-4231-9656ED147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B3111841-5BFA-462F-8031-3CBED5A93B7C}"/>
              </a:ext>
            </a:extLst>
          </p:cNvPr>
          <p:cNvSpPr txBox="1"/>
          <p:nvPr/>
        </p:nvSpPr>
        <p:spPr>
          <a:xfrm>
            <a:off x="2644726" y="411038"/>
            <a:ext cx="4614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AO" sz="28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Sugestões</a:t>
            </a:r>
            <a:r>
              <a:rPr lang="pt-AO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x-none" dirty="0"/>
          </a:p>
        </p:txBody>
      </p:sp>
      <p:sp>
        <p:nvSpPr>
          <p:cNvPr id="4" name="Bolha de Pensamento: Nuvem 3">
            <a:extLst>
              <a:ext uri="{FF2B5EF4-FFF2-40B4-BE49-F238E27FC236}">
                <a16:creationId xmlns:a16="http://schemas.microsoft.com/office/drawing/2014/main" xmlns="" id="{4098848D-90F3-408E-8462-F2960262F909}"/>
              </a:ext>
            </a:extLst>
          </p:cNvPr>
          <p:cNvSpPr/>
          <p:nvPr/>
        </p:nvSpPr>
        <p:spPr>
          <a:xfrm>
            <a:off x="2812026" y="1775490"/>
            <a:ext cx="6099252" cy="4352812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Futuramente, poderão ser implementadas novas funcionalidades, tais como: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Painel de estatísticas e desempenho;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Módulo para clientes acompanharem os seus pedidos;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Relatórios financeiros e de consumo;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Integração com sistemas de pagamento; </a:t>
            </a:r>
            <a:b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Utilização de Inteligência Artificial para previsão de consumo e apoio à gestão</a:t>
            </a:r>
            <a:r>
              <a:rPr lang="pt-BR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Assim como comprar domínio para ter uma URL mais profissional</a:t>
            </a: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5147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389930"/>
            <a:ext cx="7797662" cy="1151965"/>
          </a:xfrm>
        </p:spPr>
        <p:txBody>
          <a:bodyPr/>
          <a:lstStyle/>
          <a:p>
            <a:pPr algn="ctr"/>
            <a:r>
              <a:rPr sz="3200" dirty="0" err="1"/>
              <a:t>Tecnologias</a:t>
            </a:r>
            <a:r>
              <a:rPr sz="3200" dirty="0"/>
              <a:t> </a:t>
            </a:r>
            <a:r>
              <a:rPr lang="pt-PT" sz="3200" dirty="0"/>
              <a:t>E FERRAMENTAS DE DESENVOLVIMENTO </a:t>
            </a:r>
            <a:r>
              <a:rPr sz="3200" dirty="0" err="1"/>
              <a:t>Utilizadas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dirty="0">
                <a:latin typeface="Algerian" panose="04020705040A02060702" pitchFamily="82" charset="0"/>
              </a:rPr>
              <a:t>HTML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>
                <a:latin typeface="Algerian" panose="04020705040A02060702" pitchFamily="82" charset="0"/>
              </a:rPr>
              <a:t>CSS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>
                <a:latin typeface="Algerian" panose="04020705040A02060702" pitchFamily="82" charset="0"/>
              </a:rPr>
              <a:t>JavaScript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>
                <a:latin typeface="Algerian" panose="04020705040A02060702" pitchFamily="82" charset="0"/>
              </a:rPr>
              <a:t>PHP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>
                <a:latin typeface="Algerian" panose="04020705040A02060702" pitchFamily="82" charset="0"/>
              </a:rPr>
              <a:t>Bootstrap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>
                <a:latin typeface="Algerian" panose="04020705040A02060702" pitchFamily="82" charset="0"/>
              </a:rPr>
              <a:t>MySQL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>
                <a:latin typeface="Algerian" panose="04020705040A02060702" pitchFamily="82" charset="0"/>
              </a:rPr>
              <a:t>XAMPP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>
                <a:latin typeface="Algerian" panose="04020705040A02060702" pitchFamily="82" charset="0"/>
              </a:rPr>
              <a:t> Visual Studio Code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463E0DE6-4C1F-7690-B47C-7D5B036D3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703" y="1541895"/>
            <a:ext cx="3926958" cy="3926958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346492"/>
      </a:accent1>
      <a:accent2>
        <a:srgbClr val="6DA5D4"/>
      </a:accent2>
      <a:accent3>
        <a:srgbClr val="538C79"/>
      </a:accent3>
      <a:accent4>
        <a:srgbClr val="93B75D"/>
      </a:accent4>
      <a:accent5>
        <a:srgbClr val="DEB050"/>
      </a:accent5>
      <a:accent6>
        <a:srgbClr val="BB5354"/>
      </a:accent6>
      <a:hlink>
        <a:srgbClr val="3289DD"/>
      </a:hlink>
      <a:folHlink>
        <a:srgbClr val="859EB6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E3530EC-BA5B-407C-9B36-00820F3955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3196</TotalTime>
  <Words>1046</Words>
  <Application>Microsoft Office PowerPoint</Application>
  <PresentationFormat>Apresentação na tela (4:3)</PresentationFormat>
  <Paragraphs>110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7" baseType="lpstr">
      <vt:lpstr>Aharoni</vt:lpstr>
      <vt:lpstr>Algerian</vt:lpstr>
      <vt:lpstr>Aptos</vt:lpstr>
      <vt:lpstr>Arial</vt:lpstr>
      <vt:lpstr>Cambria</vt:lpstr>
      <vt:lpstr>Impact</vt:lpstr>
      <vt:lpstr>Times New Roman</vt:lpstr>
      <vt:lpstr>Wingdings</vt:lpstr>
      <vt:lpstr>Evento Principal</vt:lpstr>
      <vt:lpstr>DESENVOLVIMENTO DE UM SISTEMA WEB PARA A GESTÃO INTEGRADA DE PEDIDOS, FICHAS TÉCNICAS E STOCK NUMA COZINHA DE RESTAURANTE </vt:lpstr>
      <vt:lpstr>INTRODUÇÃO</vt:lpstr>
      <vt:lpstr>Problema de Investigação</vt:lpstr>
      <vt:lpstr>Objectivo Geral</vt:lpstr>
      <vt:lpstr>Justificativa</vt:lpstr>
      <vt:lpstr>Apresentação do PowerPoint</vt:lpstr>
      <vt:lpstr>Apresentação do PowerPoint</vt:lpstr>
      <vt:lpstr>Apresentação do PowerPoint</vt:lpstr>
      <vt:lpstr>Apresentação do PowerPoint</vt:lpstr>
      <vt:lpstr>Estrutura do trabalho</vt:lpstr>
      <vt:lpstr>CAPÍTULO II: FUNDAMENTAÇÃO METODOLÓGICA</vt:lpstr>
      <vt:lpstr>CAPÍTULO I: ENQUADRAMENTO TEÓRICO-CONCEPTUAL </vt:lpstr>
      <vt:lpstr>CAPÍTULO I: ENQUADRAMENTO TEÓRICO-CONCEPTUAL </vt:lpstr>
      <vt:lpstr>CAPÍTULO I: ENQUADRAMENTO TEÓRICO-CONCEPTUAL </vt:lpstr>
      <vt:lpstr>Apresentação do PowerPoint</vt:lpstr>
      <vt:lpstr>Apresentação do PowerPoint</vt:lpstr>
      <vt:lpstr>Apresentação do PowerPoint</vt:lpstr>
      <vt:lpstr>Tecnologias E FERRAMENTAS DE DESENVOLVIMENTO Utilizadas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Paixão</dc:creator>
  <cp:keywords/>
  <dc:description>generated using python-pptx</dc:description>
  <cp:lastModifiedBy>Lenovo</cp:lastModifiedBy>
  <cp:revision>91</cp:revision>
  <dcterms:created xsi:type="dcterms:W3CDTF">2013-01-27T09:14:16Z</dcterms:created>
  <dcterms:modified xsi:type="dcterms:W3CDTF">2026-09-29T18:48:44Z</dcterms:modified>
  <cp:category/>
</cp:coreProperties>
</file>